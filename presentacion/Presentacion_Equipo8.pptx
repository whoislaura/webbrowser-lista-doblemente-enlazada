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92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Somos el Equipo 8 y les presentamos el historial de navegación de un navegador web. Está implementado en Java con la estructura que nos asignaron: una lista doblemente enlazada.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278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navegador debe recordar las páginas que visitamos: de cada una guarda la URL, el título y la hora de visita. Con esos datos el sistema debe poder eliminar por URL, mostrar el historial de la más reciente a la más antigua, buscar por una palabra del título y vaciar las visitas anteriores a una hora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132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nodo guarda un dato y dos referencias, al anterior y al siguiente, y la lista conoce el primero, head, y el último, tail. Al insertar o eliminar se reenlaza sin volver a buscar los vecinos, y se puede llegar a una posición desde el extremo más cercano. El historial se guarda ordenado por hora de mayor a menor, así que la cabeza es siempre la visita más reciente.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3051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está organizado en cinco paquetes: modelo, estructura, historial, app y pruebas. Anyelo explica la estructura base, Carlos Daniel el modelo y el registro, Alejandro la eliminación y Reynaldo la búsqueda y las pruebas. Yo cierro con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3203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Node guarda su valor y dos referencias, next y previous, y es genérico, así que sirve para páginas y para textos. IList define el contrato de la lista y LinkedList lo implementa guardando head, tail y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60171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Agregar al final es lo más simple porque conocemos tail y no hay que recorrer nada. Al inicio y en el medio se reenlazan las referencias del nodo nuevo y de sus vecinos. Si el índice es negativo o mayor que el tamaño, se lanza IndexOutOfBoundsException.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7969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método getNode aprovecha la lista doble: si el índice está en la primera mitad parte desde head y avanza con next, y si está en la segunda mitad parte desde tail y retrocede con previous. Así se recorre como máximo la mitad de la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3494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PaginaWeb guarda la url, el título y la hora; sus atributos son final, así que una página no cambia después de crearse. La hora entra como HH:mm:ss pero se guarda en segundos desde la medianoche para comparar enteros: 15:30:10 son 55 810 segundos. Si el formato o el rango fallan, se lanza IllegalArgumentException.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6218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RegistrarVisita mantiene el historial ordenado de mayor a menor hora: avanza mientras la hora de la posición sea mayor o igual a la nueva y luego inserta con add. Si se registran 14:00, 08:00 y 10:00, la lista queda 14:00, 10:00, 08:00. Así la cabeza siempre es la visita más reciente.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229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MostrarHistorialReciente crea una lista nueva y copia en ella las páginas en el mismo orden. Devuelve la copia y no la lista interna, para que nadie pueda dañar el historial. Si el historial está vacío, devuelve una lista vacía.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472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remove se resuelve con dos preguntas: si el nodo no tiene anterior es el primero, y si no tiene siguiente es el último. De ahí salen los cuatro casos; en el único nodo, head y tail quedan en null. Al final se desconecta el nodo, se resta uno a size y se devuelve su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49119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EliminarPaginaPorUrl recorre el historial, y cuando encuentra la URL llama a remove y devuelve true; si no la encuentra devuelve false. Si la URL está repetida, elimina solo la primera coincidencia, que es la visita más reciente.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4695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VaciarHistorialAntiguo convierte la hora límite a segundos y recorre toda la lista: elimina lo estrictamente anterior al límite y devuelve cuántas visitas eliminó. Una visita exactamente a la hora límite se conserva. Después de eliminar no se avanza el índice, porque el siguiente nodo pasa a esa misma 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8745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búsqueda valida que la palabra no sea nula ni vacía, recorre el historial y compara cada tramo del título con regionMatches, ignorando mayúsculas. Devuelve las URL de las coincidencias en el orden del historial, de la más reciente a la más antigua. Sin coincidencias devuelve una lista vacía, y una palabra vacía o nula lanza una excepción.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54779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usamos JUnit: la clase PruebasProyecto tiene su propio main. El método verificar imprime OK o lanza un error si la condición falla, y verificarExcepcion comprueba que una acción lance la excepción esperada. En total son 69 pruebas repartidas en siete grupos, con casos positivos y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4920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Hacemos la demostración en vivo del menú de Main: cargamos los datos, mostramos el historial, buscamos, eliminamos y vaciamos. El resultado de las pruebas es de 69 ejecutadas y 69 que pasaron; 47 están en grupos de flujo normal y 22 en grupos de casos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405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 este proyecto aprendimos a manejar los punteros de una lista doble, a cuidar los casos límite como la lista vacía y el nodo único, y a probar un programa de forma sistemática. El código y la presentación están en nuestro repositorio de GitHub. Gracias, abrimos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342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4087692-7D96-4B42-9C1F-EC1EE7ACD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60AD096-A41F-418C-8B39-1B9B6EEC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22EC6F-FC34-48F7-9784-1CD73EF1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9BA5A73-83E1-4570-9B66-4D08D73B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7B88F89-8F8C-438B-8E15-0EE85F1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23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4C4675-383E-4DFD-AA85-F4638A3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6BE347F-785F-40DB-B2E4-DF936DDA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86C95763-4BA0-4E11-B60A-0CC1511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626812B-AC19-48DF-82E0-1BEEB20A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41FF938-0E16-46D0-A6AF-B6E9624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47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34E3A0-FFC4-4040-AD3B-6B23AFD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B37582A-2044-4EDB-A03E-6F91AF20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1CB110-52A5-4D1C-914B-1BF04F5D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809B9A7-1400-424B-A784-40596D3C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8A8A5B0-C86F-41CA-95F4-8C9DDCB5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72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DA1665-29F2-4CE5-882D-8492D18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12088FE-1BB3-439A-8F5B-2D9C7B1C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50E44A3A-5CEF-4B78-8AE7-EE4DC7A0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57176E0-3A92-4B59-8A15-DA02CF5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60B7BE2-E7E5-4304-9E01-CCDC838E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9F92D8C-1E50-49B4-8C0B-DA270308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021975-0FDF-44B2-BFD6-BDDC7C7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4424D3A-5384-47CB-B213-9D19E2578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BD019713-8C90-4EE7-A349-A57B8500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F2DC350B-8920-47B7-90C9-CEDE9613F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6A0AC4E5-6E02-463E-B1B3-0DD26B03B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C7FC42B1-BA7D-43FC-82AC-355F216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198AD83D-ED20-4AA3-8BBF-C303A7C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350E1190-79A7-44BB-97F4-57602A0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7042C6-6960-4AC3-B3AE-7258B4A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D129ED5-5194-4416-9E94-F98390B5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A78564F6-E03D-454E-9AE9-01FF84A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132123D-095B-4486-9D21-A567CFA9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3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B27DA116-2C79-45D1-B3F1-F56B25E9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6599404A-3343-48F2-AD3D-6ABC1123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49F142-FE13-4549-AEB3-2F06A062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047F195-53B9-48AB-943C-84B3F788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7B741D7-6853-4F7C-930C-135816D6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1B725EF-99D4-44BA-9465-E829FA3B7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98E6160-0952-4AE2-913E-F8232F2B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B5C9AC0-5366-42C4-8BB9-1C8360B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2B8B5BB1-5D14-4939-9A06-0764977B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0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C0518C-91FB-4DCB-8E98-552FE289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703F00A5-DEB0-418F-AB3F-983183FF0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290E094-80F1-4FC2-8783-733A8DB9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0F44B36-1E90-4E55-9AAC-46A0985F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91BA349-E599-4C1B-AC3E-A38A074D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B47919F1-6E7A-4911-AF6B-2501E2C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A7EC4B-1C80-4B70-889D-8FBE843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0FE18196-29C8-4DC4-BF7D-88B77B67A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AB300C5-2AD1-4CFD-A6DD-B89DDEC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648D731-E5C4-4E67-99AB-84B0257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02B54A7-ABCB-4C3F-996F-AD11C016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0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B1BEAF15-7658-41EA-88C7-5B82886E2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4C19DCF-B40B-453D-9B82-AF0B0E65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7121CCB-320D-4153-8BF6-27A6D59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AA3CB01-7FA7-4574-9FFC-9CA300F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E78DDC5-4FE1-4C1D-B3D7-B15C19DA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3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3CF4F349-4F35-44F2-82F3-381F16B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B2E560E-50BD-479C-AF89-F8053F17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7555E14-8D41-46D7-BBFA-FBB6E141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39F706F-2BCD-4D33-989F-92F613F1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A71B7D2-AE3A-40D0-8101-C1DF0991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3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 de texto 2">
            <a:extLst>
              <a:ext uri="{FF2B5EF4-FFF2-40B4-BE49-F238E27FC236}">
                <a16:creationId xmlns:a16="http://schemas.microsoft.com/office/drawing/2014/main" xmlns="" id="{A8C199B2-0956-4872-BAF1-BD5CB0C4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048" y="2011680"/>
            <a:ext cx="6858000" cy="5303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916"/>
              </a:lnSpc>
              <a:spcAft>
                <a:spcPts val="800"/>
              </a:spcAft>
            </a:pPr>
            <a:r>
              <a:rPr lang="en-US" altLang="zh-CN" sz="3200" b="1" kern="100" dirty="0">
                <a:latin typeface="Myriad Pro Cond"/>
                <a:ea typeface="Calibri"/>
                <a:cs typeface="Times New Roman"/>
                <a:sym typeface="Times New Roman"/>
              </a:rPr>
              <a:t>ESTRUCTURA DE DATOS</a:t>
            </a:r>
          </a:p>
        </p:txBody>
      </p:sp>
      <p:sp>
        <p:nvSpPr>
          <p:cNvPr id="6" name="Cuadro de texto 2">
            <a:extLst>
              <a:ext uri="{FF2B5EF4-FFF2-40B4-BE49-F238E27FC236}">
                <a16:creationId xmlns:a16="http://schemas.microsoft.com/office/drawing/2014/main" xmlns="" id="{E7F1EA02-0D00-45C9-8608-EC157216D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728" y="2560320"/>
            <a:ext cx="9692640" cy="16916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3400" b="1" i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HISTORIAL DE NAVEGACIÓN WEBBROWSER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600" b="0" i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LISTA DOBLEMENTE ENLAZADA EN JAVA</a:t>
            </a:r>
          </a:p>
        </p:txBody>
      </p:sp>
      <p:sp>
        <p:nvSpPr>
          <p:cNvPr id="7" name="Cuadro de texto 2">
            <a:extLst>
              <a:ext uri="{FF2B5EF4-FFF2-40B4-BE49-F238E27FC236}">
                <a16:creationId xmlns:a16="http://schemas.microsoft.com/office/drawing/2014/main" xmlns="" id="{C1E3498B-90E7-43CA-B768-CD6A048E3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448" y="425196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916"/>
              </a:lnSpc>
              <a:spcAft>
                <a:spcPts val="800"/>
              </a:spcAft>
            </a:pPr>
            <a:r>
              <a:rPr lang="en-US" altLang="zh-CN" sz="2600" b="1" kern="100" dirty="0">
                <a:latin typeface="Myriad Pro Cond"/>
                <a:ea typeface="Calibri"/>
                <a:cs typeface="Times New Roman"/>
                <a:sym typeface="Times New Roman"/>
              </a:rPr>
              <a:t>EQUIPO 8</a:t>
            </a:r>
          </a:p>
        </p:txBody>
      </p:sp>
      <p:sp>
        <p:nvSpPr>
          <p:cNvPr id="8" name="Cuadro de texto 2">
            <a:extLst>
              <a:ext uri="{FF2B5EF4-FFF2-40B4-BE49-F238E27FC236}">
                <a16:creationId xmlns:a16="http://schemas.microsoft.com/office/drawing/2014/main" xmlns="" id="{618019E8-AB6F-4BF8-B036-3314ED563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160" y="4709160"/>
            <a:ext cx="9628632" cy="105156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en-US" altLang="zh-CN" sz="1800" b="1" i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Laura García Miguel · Anyelo Monterrey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en-US" altLang="zh-CN" sz="1800" b="1" i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Carlos Daniel Hernández Díaz · Alejandro Martínez González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en-US" altLang="zh-CN" sz="1800" b="1" i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Reynaldo A. Ramos Alvarez</a:t>
            </a:r>
          </a:p>
        </p:txBody>
      </p:sp>
      <p:sp>
        <p:nvSpPr>
          <p:cNvPr id="9" name="Cuadro de texto 2">
            <a:extLst>
              <a:ext uri="{FF2B5EF4-FFF2-40B4-BE49-F238E27FC236}">
                <a16:creationId xmlns:a16="http://schemas.microsoft.com/office/drawing/2014/main" xmlns="" id="{02E966BD-4784-4ED7-A028-7D680FFD2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528" y="5870448"/>
            <a:ext cx="146304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400" b="1" kern="100" dirty="0">
                <a:solidFill>
                  <a:srgbClr val="767171"/>
                </a:solidFill>
                <a:latin typeface="Myriad Pro Cond"/>
                <a:ea typeface="Calibri"/>
                <a:cs typeface="Times New Roman"/>
                <a:sym typeface="Times New Roma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0361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El problema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Laura</a:t>
            </a:r>
          </a:p>
        </p:txBody>
      </p:sp>
      <p:sp>
        <p:nvSpPr>
          <p:cNvPr id="4" name="Ventana navegador"/>
          <p:cNvSpPr/>
          <p:nvPr/>
        </p:nvSpPr>
        <p:spPr>
          <a:xfrm>
            <a:off x="548640" y="1325880"/>
            <a:ext cx="51206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arra navegador"/>
          <p:cNvSpPr/>
          <p:nvPr/>
        </p:nvSpPr>
        <p:spPr>
          <a:xfrm>
            <a:off x="548640" y="1325880"/>
            <a:ext cx="5120640" cy="594360"/>
          </a:xfrm>
          <a:prstGeom prst="roundRect">
            <a:avLst>
              <a:gd name="adj" fmla="val 4000"/>
            </a:avLst>
          </a:prstGeom>
          <a:solidFill>
            <a:srgbClr val="E4ECE7"/>
          </a:solidFill>
          <a:ln w="2540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tón"/>
          <p:cNvSpPr/>
          <p:nvPr/>
        </p:nvSpPr>
        <p:spPr>
          <a:xfrm>
            <a:off x="777240" y="1426464"/>
            <a:ext cx="384048" cy="384048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echa botón"/>
          <p:cNvSpPr/>
          <p:nvPr/>
        </p:nvSpPr>
        <p:spPr>
          <a:xfrm rot="16200000">
            <a:off x="896112" y="1545336"/>
            <a:ext cx="155448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tón"/>
          <p:cNvSpPr/>
          <p:nvPr/>
        </p:nvSpPr>
        <p:spPr>
          <a:xfrm>
            <a:off x="1280160" y="1426464"/>
            <a:ext cx="384048" cy="384048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echa botón"/>
          <p:cNvSpPr/>
          <p:nvPr/>
        </p:nvSpPr>
        <p:spPr>
          <a:xfrm rot="5400000">
            <a:off x="1399031" y="1545336"/>
            <a:ext cx="155448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rra dirección"/>
          <p:cNvSpPr/>
          <p:nvPr/>
        </p:nvSpPr>
        <p:spPr>
          <a:xfrm>
            <a:off x="1828800" y="1444752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mpo url"/>
          <p:cNvSpPr/>
          <p:nvPr/>
        </p:nvSpPr>
        <p:spPr>
          <a:xfrm>
            <a:off x="914400" y="2240280"/>
            <a:ext cx="1965960" cy="594360"/>
          </a:xfrm>
          <a:prstGeom prst="roundRect">
            <a:avLst>
              <a:gd name="adj" fmla="val 18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url</a:t>
            </a:r>
          </a:p>
        </p:txBody>
      </p:sp>
      <p:sp>
        <p:nvSpPr>
          <p:cNvPr id="12" name="Valor url"/>
          <p:cNvSpPr/>
          <p:nvPr/>
        </p:nvSpPr>
        <p:spPr>
          <a:xfrm>
            <a:off x="3108960" y="2350008"/>
            <a:ext cx="2194560" cy="374904"/>
          </a:xfrm>
          <a:prstGeom prst="roundRect">
            <a:avLst>
              <a:gd name="adj" fmla="val 50000"/>
            </a:avLst>
          </a:prstGeom>
          <a:solidFill>
            <a:srgbClr val="DD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mpo titulo"/>
          <p:cNvSpPr/>
          <p:nvPr/>
        </p:nvSpPr>
        <p:spPr>
          <a:xfrm>
            <a:off x="914400" y="3200400"/>
            <a:ext cx="1965960" cy="594360"/>
          </a:xfrm>
          <a:prstGeom prst="roundRect">
            <a:avLst>
              <a:gd name="adj" fmla="val 18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titulo</a:t>
            </a:r>
          </a:p>
        </p:txBody>
      </p:sp>
      <p:sp>
        <p:nvSpPr>
          <p:cNvPr id="14" name="Valor titulo"/>
          <p:cNvSpPr/>
          <p:nvPr/>
        </p:nvSpPr>
        <p:spPr>
          <a:xfrm>
            <a:off x="3108960" y="3310128"/>
            <a:ext cx="2194560" cy="374904"/>
          </a:xfrm>
          <a:prstGeom prst="roundRect">
            <a:avLst>
              <a:gd name="adj" fmla="val 50000"/>
            </a:avLst>
          </a:prstGeom>
          <a:solidFill>
            <a:srgbClr val="DD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mpo horaVisita"/>
          <p:cNvSpPr/>
          <p:nvPr/>
        </p:nvSpPr>
        <p:spPr>
          <a:xfrm>
            <a:off x="914400" y="4160520"/>
            <a:ext cx="1965960" cy="594360"/>
          </a:xfrm>
          <a:prstGeom prst="roundRect">
            <a:avLst>
              <a:gd name="adj" fmla="val 18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horaVisita</a:t>
            </a:r>
          </a:p>
        </p:txBody>
      </p:sp>
      <p:sp>
        <p:nvSpPr>
          <p:cNvPr id="16" name="Valor horaVisita"/>
          <p:cNvSpPr/>
          <p:nvPr/>
        </p:nvSpPr>
        <p:spPr>
          <a:xfrm>
            <a:off x="3108960" y="4270248"/>
            <a:ext cx="2194560" cy="374904"/>
          </a:xfrm>
          <a:prstGeom prst="roundRect">
            <a:avLst>
              <a:gd name="adj" fmla="val 50000"/>
            </a:avLst>
          </a:prstGeom>
          <a:solidFill>
            <a:srgbClr val="DD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ila operación"/>
          <p:cNvSpPr/>
          <p:nvPr/>
        </p:nvSpPr>
        <p:spPr>
          <a:xfrm>
            <a:off x="6309360" y="137160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úmero"/>
          <p:cNvSpPr/>
          <p:nvPr/>
        </p:nvSpPr>
        <p:spPr>
          <a:xfrm>
            <a:off x="6446520" y="1463040"/>
            <a:ext cx="594360" cy="59436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371600"/>
            <a:ext cx="43891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26302A"/>
                </a:solidFill>
                <a:latin typeface="Calibri"/>
              </a:rPr>
              <a:t>Eliminar</a:t>
            </a:r>
            <a:r>
              <a:rPr sz="2400" b="1" i="0" dirty="0">
                <a:solidFill>
                  <a:srgbClr val="26302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26302A"/>
                </a:solidFill>
                <a:latin typeface="Calibri"/>
              </a:rPr>
              <a:t>por</a:t>
            </a:r>
            <a:r>
              <a:rPr sz="2400" b="1" i="0" dirty="0">
                <a:solidFill>
                  <a:srgbClr val="26302A"/>
                </a:solidFill>
                <a:latin typeface="Calibri"/>
              </a:rPr>
              <a:t> URL</a:t>
            </a:r>
          </a:p>
        </p:txBody>
      </p:sp>
      <p:sp>
        <p:nvSpPr>
          <p:cNvPr id="20" name="Fila operación"/>
          <p:cNvSpPr/>
          <p:nvPr/>
        </p:nvSpPr>
        <p:spPr>
          <a:xfrm>
            <a:off x="6309360" y="233172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úmero"/>
          <p:cNvSpPr/>
          <p:nvPr/>
        </p:nvSpPr>
        <p:spPr>
          <a:xfrm>
            <a:off x="6446520" y="2423160"/>
            <a:ext cx="594360" cy="59436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31720"/>
            <a:ext cx="43891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Mostrar historial reciente</a:t>
            </a:r>
          </a:p>
        </p:txBody>
      </p:sp>
      <p:sp>
        <p:nvSpPr>
          <p:cNvPr id="23" name="Fila operación"/>
          <p:cNvSpPr/>
          <p:nvPr/>
        </p:nvSpPr>
        <p:spPr>
          <a:xfrm>
            <a:off x="6309360" y="329184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úmero"/>
          <p:cNvSpPr/>
          <p:nvPr/>
        </p:nvSpPr>
        <p:spPr>
          <a:xfrm>
            <a:off x="6446520" y="3383280"/>
            <a:ext cx="594360" cy="59436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91840"/>
            <a:ext cx="43891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Buscar por palabra clave</a:t>
            </a:r>
          </a:p>
        </p:txBody>
      </p:sp>
      <p:sp>
        <p:nvSpPr>
          <p:cNvPr id="26" name="Fila operación"/>
          <p:cNvSpPr/>
          <p:nvPr/>
        </p:nvSpPr>
        <p:spPr>
          <a:xfrm>
            <a:off x="6309360" y="425196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úmero"/>
          <p:cNvSpPr/>
          <p:nvPr/>
        </p:nvSpPr>
        <p:spPr>
          <a:xfrm>
            <a:off x="6446520" y="4343400"/>
            <a:ext cx="594360" cy="59436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51960"/>
            <a:ext cx="43891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26302A"/>
                </a:solidFill>
                <a:latin typeface="Calibri"/>
              </a:rPr>
              <a:t>Vaciar</a:t>
            </a:r>
            <a:r>
              <a:rPr sz="2400" b="1" i="0" dirty="0">
                <a:solidFill>
                  <a:srgbClr val="26302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26302A"/>
                </a:solidFill>
                <a:latin typeface="Calibri"/>
              </a:rPr>
              <a:t>historial</a:t>
            </a:r>
            <a:r>
              <a:rPr sz="2400" b="1" i="0" dirty="0">
                <a:solidFill>
                  <a:srgbClr val="26302A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26302A"/>
                </a:solidFill>
                <a:latin typeface="Calibri"/>
              </a:rPr>
              <a:t>antiguo</a:t>
            </a:r>
            <a:endParaRPr sz="2400" b="1" i="0" dirty="0">
              <a:solidFill>
                <a:srgbClr val="26302A"/>
              </a:solidFill>
              <a:latin typeface="Calibri"/>
            </a:endParaRPr>
          </a:p>
        </p:txBody>
      </p:sp>
      <p:sp>
        <p:nvSpPr>
          <p:cNvPr id="29" name="TextBox 18"/>
          <p:cNvSpPr txBox="1"/>
          <p:nvPr/>
        </p:nvSpPr>
        <p:spPr>
          <a:xfrm>
            <a:off x="3246120" y="2353446"/>
            <a:ext cx="438912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b="1" dirty="0">
                <a:solidFill>
                  <a:srgbClr val="26302A"/>
                </a:solidFill>
                <a:latin typeface="Calibri"/>
              </a:rPr>
              <a:t>i</a:t>
            </a:r>
            <a:r>
              <a:rPr lang="en-US" b="1" dirty="0" smtClean="0">
                <a:solidFill>
                  <a:srgbClr val="26302A"/>
                </a:solidFill>
                <a:latin typeface="Calibri"/>
              </a:rPr>
              <a:t>ntranet.upr.edu.cu</a:t>
            </a:r>
            <a:endParaRPr b="1" i="0" dirty="0">
              <a:solidFill>
                <a:srgbClr val="26302A"/>
              </a:solidFill>
              <a:latin typeface="Calibri"/>
            </a:endParaRPr>
          </a:p>
        </p:txBody>
      </p:sp>
      <p:sp>
        <p:nvSpPr>
          <p:cNvPr id="30" name="TextBox 18"/>
          <p:cNvSpPr txBox="1"/>
          <p:nvPr/>
        </p:nvSpPr>
        <p:spPr>
          <a:xfrm>
            <a:off x="3246120" y="3312914"/>
            <a:ext cx="438912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b="1" dirty="0" smtClean="0">
                <a:solidFill>
                  <a:srgbClr val="26302A"/>
                </a:solidFill>
                <a:latin typeface="Calibri"/>
              </a:rPr>
              <a:t>P</a:t>
            </a:r>
            <a:r>
              <a:rPr lang="es-419" b="1" dirty="0" smtClean="0">
                <a:solidFill>
                  <a:srgbClr val="26302A"/>
                </a:solidFill>
                <a:latin typeface="Calibri"/>
              </a:rPr>
              <a:t>ágina de inicio UPR</a:t>
            </a:r>
            <a:endParaRPr b="1" i="0" dirty="0">
              <a:solidFill>
                <a:srgbClr val="26302A"/>
              </a:solidFill>
              <a:latin typeface="Calibri"/>
            </a:endParaRPr>
          </a:p>
        </p:txBody>
      </p:sp>
      <p:sp>
        <p:nvSpPr>
          <p:cNvPr id="31" name="TextBox 18"/>
          <p:cNvSpPr txBox="1"/>
          <p:nvPr/>
        </p:nvSpPr>
        <p:spPr>
          <a:xfrm>
            <a:off x="3703320" y="4284964"/>
            <a:ext cx="438912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b="1" dirty="0" smtClean="0">
                <a:solidFill>
                  <a:srgbClr val="26302A"/>
                </a:solidFill>
                <a:latin typeface="Calibri"/>
              </a:rPr>
              <a:t>10:30:00</a:t>
            </a:r>
            <a:endParaRPr b="1" i="0" dirty="0">
              <a:solidFill>
                <a:srgbClr val="26302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Lista doblemente enlazada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1408" y="182880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6B766F"/>
                </a:solidFill>
                <a:latin typeface="Consolas"/>
              </a:rPr>
              <a:t>null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898648" y="2194560"/>
            <a:ext cx="36576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Nodo A"/>
          <p:cNvSpPr/>
          <p:nvPr/>
        </p:nvSpPr>
        <p:spPr>
          <a:xfrm>
            <a:off x="3310128" y="1828800"/>
            <a:ext cx="1188720" cy="73152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8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7" name="Nodo B"/>
          <p:cNvSpPr/>
          <p:nvPr/>
        </p:nvSpPr>
        <p:spPr>
          <a:xfrm>
            <a:off x="5504688" y="1828800"/>
            <a:ext cx="1188720" cy="73152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8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98848" y="2121408"/>
            <a:ext cx="100584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498848" y="2267712"/>
            <a:ext cx="100584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do C"/>
          <p:cNvSpPr/>
          <p:nvPr/>
        </p:nvSpPr>
        <p:spPr>
          <a:xfrm>
            <a:off x="7699248" y="1828800"/>
            <a:ext cx="1188720" cy="73152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8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93408" y="2121408"/>
            <a:ext cx="100584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93408" y="2267712"/>
            <a:ext cx="100584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33688" y="2194560"/>
            <a:ext cx="41148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45168" y="182880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6B766F"/>
                </a:solidFill>
                <a:latin typeface="Consolas"/>
              </a:rPr>
              <a:t>null</a:t>
            </a:r>
          </a:p>
        </p:txBody>
      </p:sp>
      <p:sp>
        <p:nvSpPr>
          <p:cNvPr id="15" name="Etiqueta head"/>
          <p:cNvSpPr/>
          <p:nvPr/>
        </p:nvSpPr>
        <p:spPr>
          <a:xfrm>
            <a:off x="3447288" y="12344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8" y="1600200"/>
            <a:ext cx="0" cy="210312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tiqueta tail"/>
          <p:cNvSpPr/>
          <p:nvPr/>
        </p:nvSpPr>
        <p:spPr>
          <a:xfrm>
            <a:off x="7836408" y="12344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tail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93608" y="1600200"/>
            <a:ext cx="0" cy="210312"/>
          </a:xfrm>
          <a:prstGeom prst="line">
            <a:avLst/>
          </a:prstGeom>
          <a:ln w="22225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arjeta ventaja"/>
          <p:cNvSpPr/>
          <p:nvPr/>
        </p:nvSpPr>
        <p:spPr>
          <a:xfrm>
            <a:off x="548640" y="3063240"/>
            <a:ext cx="5394960" cy="132588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úmero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063240"/>
            <a:ext cx="425196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Conoce a su anterior y a su siguiente</a:t>
            </a:r>
          </a:p>
        </p:txBody>
      </p:sp>
      <p:sp>
        <p:nvSpPr>
          <p:cNvPr id="22" name="Tarjeta ventaja"/>
          <p:cNvSpPr/>
          <p:nvPr/>
        </p:nvSpPr>
        <p:spPr>
          <a:xfrm>
            <a:off x="6245352" y="3063240"/>
            <a:ext cx="5394960" cy="132588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úmero"/>
          <p:cNvSpPr/>
          <p:nvPr/>
        </p:nvSpPr>
        <p:spPr>
          <a:xfrm>
            <a:off x="6473952" y="3474720"/>
            <a:ext cx="548640" cy="548640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063240"/>
            <a:ext cx="425196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Se entra por head o por tail</a:t>
            </a:r>
          </a:p>
        </p:txBody>
      </p:sp>
      <p:sp>
        <p:nvSpPr>
          <p:cNvPr id="25" name="Nota"/>
          <p:cNvSpPr/>
          <p:nvPr/>
        </p:nvSpPr>
        <p:spPr>
          <a:xfrm>
            <a:off x="548640" y="47548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 i="0">
                <a:solidFill>
                  <a:srgbClr val="11622F"/>
                </a:solidFill>
                <a:latin typeface="Calibri"/>
              </a:rPr>
              <a:t>head = visita más reciente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Mapa del proyecto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Laura</a:t>
            </a:r>
          </a:p>
        </p:txBody>
      </p:sp>
      <p:sp>
        <p:nvSpPr>
          <p:cNvPr id="4" name="Raíz src"/>
          <p:cNvSpPr/>
          <p:nvPr/>
        </p:nvSpPr>
        <p:spPr>
          <a:xfrm>
            <a:off x="5184648" y="1280160"/>
            <a:ext cx="1828800" cy="502920"/>
          </a:xfrm>
          <a:prstGeom prst="roundRect">
            <a:avLst>
              <a:gd name="adj" fmla="val 2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src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1783080"/>
            <a:ext cx="0" cy="32004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23847" y="2103120"/>
            <a:ext cx="9144000" cy="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3847" y="2103120"/>
            <a:ext cx="0" cy="27432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arjeta paquete"/>
          <p:cNvSpPr/>
          <p:nvPr/>
        </p:nvSpPr>
        <p:spPr>
          <a:xfrm>
            <a:off x="472287" y="237744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becera paquete"/>
          <p:cNvSpPr/>
          <p:nvPr/>
        </p:nvSpPr>
        <p:spPr>
          <a:xfrm>
            <a:off x="472287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modelo</a:t>
            </a:r>
          </a:p>
        </p:txBody>
      </p:sp>
      <p:sp>
        <p:nvSpPr>
          <p:cNvPr id="10" name="CHIP responsable"/>
          <p:cNvSpPr/>
          <p:nvPr/>
        </p:nvSpPr>
        <p:spPr>
          <a:xfrm>
            <a:off x="609447" y="324612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i="0" dirty="0" smtClean="0">
                <a:solidFill>
                  <a:srgbClr val="FFFFFF"/>
                </a:solidFill>
                <a:latin typeface="Calibri"/>
              </a:rPr>
              <a:t>PaginaWeb.java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809847" y="2103120"/>
            <a:ext cx="0" cy="27432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rjeta paquete"/>
          <p:cNvSpPr/>
          <p:nvPr/>
        </p:nvSpPr>
        <p:spPr>
          <a:xfrm>
            <a:off x="2758287" y="237744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becera paquete"/>
          <p:cNvSpPr/>
          <p:nvPr/>
        </p:nvSpPr>
        <p:spPr>
          <a:xfrm>
            <a:off x="2758287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estructura</a:t>
            </a:r>
          </a:p>
        </p:txBody>
      </p:sp>
      <p:sp>
        <p:nvSpPr>
          <p:cNvPr id="14" name="CHIP responsable"/>
          <p:cNvSpPr/>
          <p:nvPr/>
        </p:nvSpPr>
        <p:spPr>
          <a:xfrm>
            <a:off x="2895447" y="324612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dirty="0" smtClean="0">
                <a:solidFill>
                  <a:srgbClr val="FFFFFF"/>
                </a:solidFill>
                <a:latin typeface="Calibri"/>
              </a:rPr>
              <a:t>Node.java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CHIP responsable"/>
          <p:cNvSpPr/>
          <p:nvPr/>
        </p:nvSpPr>
        <p:spPr>
          <a:xfrm>
            <a:off x="2895447" y="384048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i="0" dirty="0" smtClean="0">
                <a:solidFill>
                  <a:srgbClr val="FFFFFF"/>
                </a:solidFill>
                <a:latin typeface="Calibri"/>
              </a:rPr>
              <a:t>Ilist.java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103120"/>
            <a:ext cx="0" cy="27432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arjeta paquete"/>
          <p:cNvSpPr/>
          <p:nvPr/>
        </p:nvSpPr>
        <p:spPr>
          <a:xfrm>
            <a:off x="5044287" y="237744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becera paquete"/>
          <p:cNvSpPr/>
          <p:nvPr/>
        </p:nvSpPr>
        <p:spPr>
          <a:xfrm>
            <a:off x="5044287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historial</a:t>
            </a:r>
          </a:p>
        </p:txBody>
      </p:sp>
      <p:sp>
        <p:nvSpPr>
          <p:cNvPr id="19" name="CHIP responsable"/>
          <p:cNvSpPr/>
          <p:nvPr/>
        </p:nvSpPr>
        <p:spPr>
          <a:xfrm>
            <a:off x="5181447" y="324612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  <a:latin typeface="Calibri"/>
              </a:rPr>
              <a:t>HistorialNavegacion.java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CHIP responsable"/>
          <p:cNvSpPr/>
          <p:nvPr/>
        </p:nvSpPr>
        <p:spPr>
          <a:xfrm>
            <a:off x="2895446" y="443484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i="0" dirty="0" smtClean="0">
                <a:solidFill>
                  <a:srgbClr val="FFFFFF"/>
                </a:solidFill>
                <a:latin typeface="Calibri"/>
              </a:rPr>
              <a:t>LinkedList.java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381847" y="2103120"/>
            <a:ext cx="0" cy="27432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arjeta paquete"/>
          <p:cNvSpPr/>
          <p:nvPr/>
        </p:nvSpPr>
        <p:spPr>
          <a:xfrm>
            <a:off x="7330287" y="237744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becera paquete"/>
          <p:cNvSpPr/>
          <p:nvPr/>
        </p:nvSpPr>
        <p:spPr>
          <a:xfrm>
            <a:off x="7330287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pruebas</a:t>
            </a:r>
          </a:p>
        </p:txBody>
      </p:sp>
      <p:sp>
        <p:nvSpPr>
          <p:cNvPr id="25" name="CHIP responsable"/>
          <p:cNvSpPr/>
          <p:nvPr/>
        </p:nvSpPr>
        <p:spPr>
          <a:xfrm>
            <a:off x="7467447" y="324612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dirty="0" smtClean="0">
                <a:solidFill>
                  <a:srgbClr val="FFFFFF"/>
                </a:solidFill>
                <a:latin typeface="Calibri"/>
              </a:rPr>
              <a:t>PruebasProyecto.java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0667847" y="2103120"/>
            <a:ext cx="0" cy="274320"/>
          </a:xfrm>
          <a:prstGeom prst="line">
            <a:avLst/>
          </a:prstGeom>
          <a:ln w="25400">
            <a:solidFill>
              <a:srgbClr val="5A6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arjeta paquete"/>
          <p:cNvSpPr/>
          <p:nvPr/>
        </p:nvSpPr>
        <p:spPr>
          <a:xfrm>
            <a:off x="9616287" y="237744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becera paquete"/>
          <p:cNvSpPr/>
          <p:nvPr/>
        </p:nvSpPr>
        <p:spPr>
          <a:xfrm>
            <a:off x="9616287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app</a:t>
            </a:r>
          </a:p>
        </p:txBody>
      </p:sp>
      <p:sp>
        <p:nvSpPr>
          <p:cNvPr id="29" name="CHIP responsable"/>
          <p:cNvSpPr/>
          <p:nvPr/>
        </p:nvSpPr>
        <p:spPr>
          <a:xfrm>
            <a:off x="9753447" y="3246120"/>
            <a:ext cx="1828799" cy="411480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1" dirty="0" smtClean="0">
                <a:solidFill>
                  <a:srgbClr val="FFFFFF"/>
                </a:solidFill>
                <a:latin typeface="Calibri"/>
              </a:rPr>
              <a:t>Main.java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Node, IList y LinkedList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Anyelo</a:t>
            </a:r>
          </a:p>
        </p:txBody>
      </p:sp>
      <p:sp>
        <p:nvSpPr>
          <p:cNvPr id="4" name="Caja Node"/>
          <p:cNvSpPr/>
          <p:nvPr/>
        </p:nvSpPr>
        <p:spPr>
          <a:xfrm>
            <a:off x="548640" y="1188720"/>
            <a:ext cx="28346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becera Node"/>
          <p:cNvSpPr/>
          <p:nvPr/>
        </p:nvSpPr>
        <p:spPr>
          <a:xfrm>
            <a:off x="548640" y="118872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Node&lt;T&gt;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377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45536"/>
            <a:ext cx="23774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previous</a:t>
            </a:r>
          </a:p>
        </p:txBody>
      </p:sp>
      <p:sp>
        <p:nvSpPr>
          <p:cNvPr id="9" name="Caja IList"/>
          <p:cNvSpPr/>
          <p:nvPr/>
        </p:nvSpPr>
        <p:spPr>
          <a:xfrm>
            <a:off x="3657600" y="1188720"/>
            <a:ext cx="3749039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62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becera IList"/>
          <p:cNvSpPr/>
          <p:nvPr/>
        </p:nvSpPr>
        <p:spPr>
          <a:xfrm>
            <a:off x="3657600" y="1188720"/>
            <a:ext cx="3749039" cy="502920"/>
          </a:xfrm>
          <a:prstGeom prst="roundRect">
            <a:avLst>
              <a:gd name="adj" fmla="val 12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«interface» IList&lt;T&gt;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55648"/>
            <a:ext cx="34747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add(e)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add(e, index)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remove(index)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get(index)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size()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clear()</a:t>
            </a:r>
          </a:p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6302A"/>
                </a:solidFill>
                <a:latin typeface="Consolas"/>
              </a:rPr>
              <a:t>isEmpty()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188720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campos de Node</a:t>
            </a:r>
          </a:p>
        </p:txBody>
      </p:sp>
      <p:sp>
        <p:nvSpPr>
          <p:cNvPr id="13" name="CODE"/>
          <p:cNvSpPr/>
          <p:nvPr/>
        </p:nvSpPr>
        <p:spPr>
          <a:xfrm>
            <a:off x="7680960" y="1554480"/>
            <a:ext cx="4023360" cy="1358899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public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protected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val;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protected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next;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protected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previous;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959099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Cada nodo apunta a sus dos vecinos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3886200"/>
            <a:ext cx="0" cy="457200"/>
          </a:xfrm>
          <a:prstGeom prst="line">
            <a:avLst/>
          </a:prstGeom>
          <a:ln w="254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0" y="3886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6B766F"/>
                </a:solidFill>
                <a:latin typeface="Consolas"/>
              </a:rPr>
              <a:t>implements</a:t>
            </a:r>
          </a:p>
        </p:txBody>
      </p:sp>
      <p:sp>
        <p:nvSpPr>
          <p:cNvPr id="17" name="Caja LinkedList"/>
          <p:cNvSpPr/>
          <p:nvPr/>
        </p:nvSpPr>
        <p:spPr>
          <a:xfrm>
            <a:off x="548640" y="434340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1F7F3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becera LinkedList"/>
          <p:cNvSpPr/>
          <p:nvPr/>
        </p:nvSpPr>
        <p:spPr>
          <a:xfrm>
            <a:off x="548640" y="434340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LinkedList&lt;T&gt;</a:t>
            </a:r>
          </a:p>
        </p:txBody>
      </p:sp>
      <p:sp>
        <p:nvSpPr>
          <p:cNvPr id="19" name="Campo head"/>
          <p:cNvSpPr/>
          <p:nvPr/>
        </p:nvSpPr>
        <p:spPr>
          <a:xfrm>
            <a:off x="4114800" y="4663440"/>
            <a:ext cx="2103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onsolas"/>
              </a:rPr>
              <a:t>head</a:t>
            </a:r>
          </a:p>
        </p:txBody>
      </p:sp>
      <p:sp>
        <p:nvSpPr>
          <p:cNvPr id="20" name="Campo tail"/>
          <p:cNvSpPr/>
          <p:nvPr/>
        </p:nvSpPr>
        <p:spPr>
          <a:xfrm>
            <a:off x="6583680" y="4663440"/>
            <a:ext cx="2103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onsolas"/>
              </a:rPr>
              <a:t>tail</a:t>
            </a:r>
          </a:p>
        </p:txBody>
      </p:sp>
      <p:sp>
        <p:nvSpPr>
          <p:cNvPr id="21" name="Campo size"/>
          <p:cNvSpPr/>
          <p:nvPr/>
        </p:nvSpPr>
        <p:spPr>
          <a:xfrm>
            <a:off x="9052560" y="4663440"/>
            <a:ext cx="2103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onsolas"/>
              </a:rPr>
              <a:t>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Insertar en la lista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Anyelo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después</a:t>
            </a:r>
          </a:p>
        </p:txBody>
      </p:sp>
      <p:sp>
        <p:nvSpPr>
          <p:cNvPr id="6" name="Fila inserción"/>
          <p:cNvSpPr/>
          <p:nvPr/>
        </p:nvSpPr>
        <p:spPr>
          <a:xfrm>
            <a:off x="502920" y="1417320"/>
            <a:ext cx="5989320" cy="105156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Inicio</a:t>
            </a:r>
          </a:p>
        </p:txBody>
      </p:sp>
      <p:sp>
        <p:nvSpPr>
          <p:cNvPr id="8" name="Nodo B"/>
          <p:cNvSpPr/>
          <p:nvPr/>
        </p:nvSpPr>
        <p:spPr>
          <a:xfrm>
            <a:off x="1737360" y="16002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sp>
        <p:nvSpPr>
          <p:cNvPr id="9" name="Nodo C"/>
          <p:cNvSpPr/>
          <p:nvPr/>
        </p:nvSpPr>
        <p:spPr>
          <a:xfrm>
            <a:off x="2697480" y="16002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175564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40280" y="190195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0" y="1828800"/>
            <a:ext cx="411480" cy="0"/>
          </a:xfrm>
          <a:prstGeom prst="line">
            <a:avLst/>
          </a:prstGeom>
          <a:ln w="3175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odo X"/>
          <p:cNvSpPr/>
          <p:nvPr/>
        </p:nvSpPr>
        <p:spPr>
          <a:xfrm>
            <a:off x="3840480" y="16002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4" name="Nodo B"/>
          <p:cNvSpPr/>
          <p:nvPr/>
        </p:nvSpPr>
        <p:spPr>
          <a:xfrm>
            <a:off x="4800600" y="16002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175564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43400" y="190195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Nodo C"/>
          <p:cNvSpPr/>
          <p:nvPr/>
        </p:nvSpPr>
        <p:spPr>
          <a:xfrm>
            <a:off x="5760720" y="16002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175564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303520" y="190195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ila inserción"/>
          <p:cNvSpPr/>
          <p:nvPr/>
        </p:nvSpPr>
        <p:spPr>
          <a:xfrm>
            <a:off x="502920" y="2697479"/>
            <a:ext cx="5989320" cy="105156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697479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Medio</a:t>
            </a:r>
          </a:p>
        </p:txBody>
      </p:sp>
      <p:sp>
        <p:nvSpPr>
          <p:cNvPr id="22" name="Nodo A"/>
          <p:cNvSpPr/>
          <p:nvPr/>
        </p:nvSpPr>
        <p:spPr>
          <a:xfrm>
            <a:off x="1737360" y="288036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23" name="Nodo C"/>
          <p:cNvSpPr/>
          <p:nvPr/>
        </p:nvSpPr>
        <p:spPr>
          <a:xfrm>
            <a:off x="2697480" y="288036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40280" y="303580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240280" y="318211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1840" y="3108960"/>
            <a:ext cx="411480" cy="0"/>
          </a:xfrm>
          <a:prstGeom prst="line">
            <a:avLst/>
          </a:prstGeom>
          <a:ln w="3175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Nodo A"/>
          <p:cNvSpPr/>
          <p:nvPr/>
        </p:nvSpPr>
        <p:spPr>
          <a:xfrm>
            <a:off x="3840480" y="288036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28" name="Nodo X"/>
          <p:cNvSpPr/>
          <p:nvPr/>
        </p:nvSpPr>
        <p:spPr>
          <a:xfrm>
            <a:off x="4800600" y="288036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43400" y="303580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343400" y="318211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Nodo C"/>
          <p:cNvSpPr/>
          <p:nvPr/>
        </p:nvSpPr>
        <p:spPr>
          <a:xfrm>
            <a:off x="5760720" y="288036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03520" y="303580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303520" y="318211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ila inserción"/>
          <p:cNvSpPr/>
          <p:nvPr/>
        </p:nvSpPr>
        <p:spPr>
          <a:xfrm>
            <a:off x="502920" y="3977639"/>
            <a:ext cx="5989320" cy="105156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977639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Final</a:t>
            </a:r>
          </a:p>
        </p:txBody>
      </p:sp>
      <p:sp>
        <p:nvSpPr>
          <p:cNvPr id="36" name="Nodo A"/>
          <p:cNvSpPr/>
          <p:nvPr/>
        </p:nvSpPr>
        <p:spPr>
          <a:xfrm>
            <a:off x="1737360" y="4160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37" name="Nodo B"/>
          <p:cNvSpPr/>
          <p:nvPr/>
        </p:nvSpPr>
        <p:spPr>
          <a:xfrm>
            <a:off x="2697480" y="4160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240280" y="431596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240280" y="446227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91840" y="4389120"/>
            <a:ext cx="411480" cy="0"/>
          </a:xfrm>
          <a:prstGeom prst="line">
            <a:avLst/>
          </a:prstGeom>
          <a:ln w="3175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Nodo A"/>
          <p:cNvSpPr/>
          <p:nvPr/>
        </p:nvSpPr>
        <p:spPr>
          <a:xfrm>
            <a:off x="3840480" y="4160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42" name="Nodo B"/>
          <p:cNvSpPr/>
          <p:nvPr/>
        </p:nvSpPr>
        <p:spPr>
          <a:xfrm>
            <a:off x="4800600" y="4160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43400" y="431596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343400" y="446227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Nodo X"/>
          <p:cNvSpPr/>
          <p:nvPr/>
        </p:nvSpPr>
        <p:spPr>
          <a:xfrm>
            <a:off x="5760720" y="4160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03520" y="431596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303520" y="446227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5074920"/>
            <a:ext cx="5989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6B766F"/>
                </a:solidFill>
                <a:latin typeface="Calibri"/>
              </a:rPr>
              <a:t>X = nodo nuevo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097280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inserción en el medio</a:t>
            </a:r>
          </a:p>
        </p:txBody>
      </p:sp>
      <p:sp>
        <p:nvSpPr>
          <p:cNvPr id="50" name="CODE"/>
          <p:cNvSpPr/>
          <p:nvPr/>
        </p:nvSpPr>
        <p:spPr>
          <a:xfrm>
            <a:off x="6766560" y="1463040"/>
            <a:ext cx="4892040" cy="1358899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previous = cursor.getPrevious();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node.setPrevious(previous);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node.setNext(cursor);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previous.setNext(node);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cursor.setPrevious(node);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2858516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Cuatro enlaces conectan al nodo nuevo</a:t>
            </a:r>
          </a:p>
        </p:txBody>
      </p:sp>
      <p:cxnSp>
        <p:nvCxnSpPr>
          <p:cNvPr id="52" name="Enlace anterior"/>
          <p:cNvCxnSpPr/>
          <p:nvPr/>
        </p:nvCxnSpPr>
        <p:spPr>
          <a:xfrm>
            <a:off x="7680960" y="3886200"/>
            <a:ext cx="3017520" cy="0"/>
          </a:xfrm>
          <a:prstGeom prst="line">
            <a:avLst/>
          </a:prstGeom>
          <a:ln w="254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52413" y="4178951"/>
            <a:ext cx="1116945" cy="653822"/>
          </a:xfrm>
          <a:prstGeom prst="line">
            <a:avLst/>
          </a:prstGeom>
          <a:ln w="2857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7735561" y="4036906"/>
            <a:ext cx="1116945" cy="653822"/>
          </a:xfrm>
          <a:prstGeom prst="line">
            <a:avLst/>
          </a:prstGeom>
          <a:ln w="2857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610081" y="4178951"/>
            <a:ext cx="1116945" cy="653822"/>
          </a:xfrm>
          <a:prstGeom prst="line">
            <a:avLst/>
          </a:prstGeom>
          <a:ln w="2857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526933" y="4036906"/>
            <a:ext cx="1116945" cy="653822"/>
          </a:xfrm>
          <a:prstGeom prst="line">
            <a:avLst/>
          </a:prstGeom>
          <a:ln w="2857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Nodo A"/>
          <p:cNvSpPr/>
          <p:nvPr/>
        </p:nvSpPr>
        <p:spPr>
          <a:xfrm>
            <a:off x="7040880" y="3639312"/>
            <a:ext cx="548640" cy="493776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58" name="Nodo B"/>
          <p:cNvSpPr/>
          <p:nvPr/>
        </p:nvSpPr>
        <p:spPr>
          <a:xfrm>
            <a:off x="10789919" y="3639312"/>
            <a:ext cx="548640" cy="493776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sp>
        <p:nvSpPr>
          <p:cNvPr id="59" name="Nodo X"/>
          <p:cNvSpPr/>
          <p:nvPr/>
        </p:nvSpPr>
        <p:spPr>
          <a:xfrm>
            <a:off x="8915400" y="4736592"/>
            <a:ext cx="548640" cy="493776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Obtener por posición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Anyelo</a:t>
            </a:r>
          </a:p>
        </p:txBody>
      </p:sp>
      <p:sp>
        <p:nvSpPr>
          <p:cNvPr id="4" name="Nodo 1"/>
          <p:cNvSpPr/>
          <p:nvPr/>
        </p:nvSpPr>
        <p:spPr>
          <a:xfrm>
            <a:off x="2194560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1</a:t>
            </a:r>
          </a:p>
        </p:txBody>
      </p:sp>
      <p:sp>
        <p:nvSpPr>
          <p:cNvPr id="5" name="Nodo 2"/>
          <p:cNvSpPr/>
          <p:nvPr/>
        </p:nvSpPr>
        <p:spPr>
          <a:xfrm>
            <a:off x="3520439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39" y="196138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063239" y="210769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o 3"/>
          <p:cNvSpPr/>
          <p:nvPr/>
        </p:nvSpPr>
        <p:spPr>
          <a:xfrm>
            <a:off x="4846320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196138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389120" y="210769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Nodo 4"/>
          <p:cNvSpPr/>
          <p:nvPr/>
        </p:nvSpPr>
        <p:spPr>
          <a:xfrm>
            <a:off x="6172200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1961388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715000" y="2107692"/>
            <a:ext cx="45720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odo 5"/>
          <p:cNvSpPr/>
          <p:nvPr/>
        </p:nvSpPr>
        <p:spPr>
          <a:xfrm>
            <a:off x="7498079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1961388"/>
            <a:ext cx="45719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040880" y="2107692"/>
            <a:ext cx="45719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Nodo 6"/>
          <p:cNvSpPr/>
          <p:nvPr/>
        </p:nvSpPr>
        <p:spPr>
          <a:xfrm>
            <a:off x="8823960" y="1737360"/>
            <a:ext cx="868680" cy="59436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66759" y="1961388"/>
            <a:ext cx="457201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366759" y="2107692"/>
            <a:ext cx="457201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ínea de la mitad"/>
          <p:cNvCxnSpPr/>
          <p:nvPr/>
        </p:nvCxnSpPr>
        <p:spPr>
          <a:xfrm>
            <a:off x="5943600" y="1371600"/>
            <a:ext cx="0" cy="1463040"/>
          </a:xfrm>
          <a:prstGeom prst="line">
            <a:avLst/>
          </a:prstGeom>
          <a:ln w="25400">
            <a:solidFill>
              <a:srgbClr val="5A65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20" y="1097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1">
                <a:solidFill>
                  <a:srgbClr val="6B766F"/>
                </a:solidFill>
                <a:latin typeface="Calibri"/>
              </a:rPr>
              <a:t>mitad</a:t>
            </a:r>
          </a:p>
        </p:txBody>
      </p:sp>
      <p:sp>
        <p:nvSpPr>
          <p:cNvPr id="22" name="Etiqueta head"/>
          <p:cNvSpPr/>
          <p:nvPr/>
        </p:nvSpPr>
        <p:spPr>
          <a:xfrm>
            <a:off x="2148840" y="12344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head</a:t>
            </a:r>
          </a:p>
        </p:txBody>
      </p:sp>
      <p:sp>
        <p:nvSpPr>
          <p:cNvPr id="23" name="Etiqueta tail"/>
          <p:cNvSpPr/>
          <p:nvPr/>
        </p:nvSpPr>
        <p:spPr>
          <a:xfrm>
            <a:off x="8778240" y="12344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tail</a:t>
            </a:r>
          </a:p>
        </p:txBody>
      </p:sp>
      <p:sp>
        <p:nvSpPr>
          <p:cNvPr id="24" name="Recorrido head"/>
          <p:cNvSpPr/>
          <p:nvPr/>
        </p:nvSpPr>
        <p:spPr>
          <a:xfrm>
            <a:off x="2194560" y="2423160"/>
            <a:ext cx="3520440" cy="457200"/>
          </a:xfrm>
          <a:prstGeom prst="rightArrow">
            <a:avLst>
              <a:gd name="adj1" fmla="val 80000"/>
              <a:gd name="adj2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desde head</a:t>
            </a:r>
          </a:p>
        </p:txBody>
      </p:sp>
      <p:sp>
        <p:nvSpPr>
          <p:cNvPr id="25" name="Recorrido tail"/>
          <p:cNvSpPr/>
          <p:nvPr/>
        </p:nvSpPr>
        <p:spPr>
          <a:xfrm>
            <a:off x="6172200" y="2423160"/>
            <a:ext cx="3520439" cy="457200"/>
          </a:xfrm>
          <a:prstGeom prst="leftArrow">
            <a:avLst>
              <a:gd name="adj1" fmla="val 80000"/>
              <a:gd name="adj2" fmla="val 5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desde 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getNode</a:t>
            </a:r>
          </a:p>
        </p:txBody>
      </p:sp>
      <p:sp>
        <p:nvSpPr>
          <p:cNvPr id="27" name="CODE"/>
          <p:cNvSpPr/>
          <p:nvPr/>
        </p:nvSpPr>
        <p:spPr>
          <a:xfrm>
            <a:off x="548640" y="3337560"/>
            <a:ext cx="11091672" cy="2009647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(index &lt; size /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2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cursor = head;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for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i =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 i &lt; index; i++) cursor = cursor.getNext();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cursor;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cursor = tail;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for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i = size -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1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 i &gt; index; i--) cursor = cursor.getPrevious();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cursor;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83783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Se recorre como máximo la mitad de la lista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PaginaWeb: la hora en segundos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Carlos Daniel</a:t>
            </a:r>
          </a:p>
        </p:txBody>
      </p:sp>
      <p:sp>
        <p:nvSpPr>
          <p:cNvPr id="4" name="Caja PaginaWeb"/>
          <p:cNvSpPr/>
          <p:nvPr/>
        </p:nvSpPr>
        <p:spPr>
          <a:xfrm>
            <a:off x="548640" y="1188720"/>
            <a:ext cx="4754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becera PaginaWeb"/>
          <p:cNvSpPr/>
          <p:nvPr/>
        </p:nvSpPr>
        <p:spPr>
          <a:xfrm>
            <a:off x="548640" y="11887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PaginaWeb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tituloPagina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onsolas"/>
              </a:rPr>
              <a:t>horaVisitaSegundos</a:t>
            </a:r>
          </a:p>
        </p:txBody>
      </p:sp>
      <p:sp>
        <p:nvSpPr>
          <p:cNvPr id="9" name="Hora texto"/>
          <p:cNvSpPr/>
          <p:nvPr/>
        </p:nvSpPr>
        <p:spPr>
          <a:xfrm>
            <a:off x="6035040" y="1508760"/>
            <a:ext cx="2286000" cy="868680"/>
          </a:xfrm>
          <a:prstGeom prst="roundRect">
            <a:avLst>
              <a:gd name="adj" fmla="val 15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800" b="1" i="0">
                <a:solidFill>
                  <a:srgbClr val="11622F"/>
                </a:solidFill>
                <a:latin typeface="Consolas"/>
              </a:rPr>
              <a:t>15:30:10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1938528"/>
            <a:ext cx="731520" cy="0"/>
          </a:xfrm>
          <a:prstGeom prst="line">
            <a:avLst/>
          </a:prstGeom>
          <a:ln w="381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ora segundos"/>
          <p:cNvSpPr/>
          <p:nvPr/>
        </p:nvSpPr>
        <p:spPr>
          <a:xfrm>
            <a:off x="9235440" y="1508760"/>
            <a:ext cx="2423160" cy="86868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onsolas"/>
              </a:rPr>
              <a:t>55810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23160"/>
            <a:ext cx="5623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11622F"/>
                </a:solidFill>
                <a:latin typeface="Consolas"/>
              </a:rPr>
              <a:t>15·3600 + 30·60 + 10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conversión y validación de rango</a:t>
            </a:r>
          </a:p>
        </p:txBody>
      </p:sp>
      <p:sp>
        <p:nvSpPr>
          <p:cNvPr id="14" name="CODE"/>
          <p:cNvSpPr/>
          <p:nvPr/>
        </p:nvSpPr>
        <p:spPr>
          <a:xfrm>
            <a:off x="548640" y="3383279"/>
            <a:ext cx="11091672" cy="1792732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horas =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*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10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1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minutos =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3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*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10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4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segundos =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6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*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10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(hora.charAt(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7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- 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'0'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(horas &gt;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23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|| minutos &gt;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59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|| segundos &gt;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59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throw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new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IllegalArgumentException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(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"La hora está fuera de rango"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horas *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3600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minutos *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60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segundos;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588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Fuera de rango lanza IllegalArgumentException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RegistrarVisita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Carlos Daniel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Se registran</a:t>
            </a:r>
          </a:p>
        </p:txBody>
      </p:sp>
      <p:sp>
        <p:nvSpPr>
          <p:cNvPr id="5" name="Entrada 14:00"/>
          <p:cNvSpPr/>
          <p:nvPr/>
        </p:nvSpPr>
        <p:spPr>
          <a:xfrm>
            <a:off x="2468880" y="118872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E4ECE7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26302A"/>
                </a:solidFill>
                <a:latin typeface="Consolas"/>
              </a:rPr>
              <a:t>14:00</a:t>
            </a:r>
          </a:p>
        </p:txBody>
      </p:sp>
      <p:sp>
        <p:nvSpPr>
          <p:cNvPr id="6" name="Entrada 08:00"/>
          <p:cNvSpPr/>
          <p:nvPr/>
        </p:nvSpPr>
        <p:spPr>
          <a:xfrm>
            <a:off x="3840480" y="118872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E4ECE7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26302A"/>
                </a:solidFill>
                <a:latin typeface="Consolas"/>
              </a:rPr>
              <a:t>08:00</a:t>
            </a:r>
          </a:p>
        </p:txBody>
      </p:sp>
      <p:sp>
        <p:nvSpPr>
          <p:cNvPr id="7" name="Entrada 10:00"/>
          <p:cNvSpPr/>
          <p:nvPr/>
        </p:nvSpPr>
        <p:spPr>
          <a:xfrm>
            <a:off x="5212080" y="118872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E4ECE7"/>
          </a:solidFill>
          <a:ln w="19050">
            <a:solidFill>
              <a:srgbClr val="9A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26302A"/>
                </a:solidFill>
                <a:latin typeface="Consolas"/>
              </a:rPr>
              <a:t>10:00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1737360"/>
            <a:ext cx="0" cy="411480"/>
          </a:xfrm>
          <a:prstGeom prst="line">
            <a:avLst/>
          </a:prstGeom>
          <a:ln w="3175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194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Queda así</a:t>
            </a:r>
          </a:p>
        </p:txBody>
      </p:sp>
      <p:sp>
        <p:nvSpPr>
          <p:cNvPr id="10" name="Nodo 14:00"/>
          <p:cNvSpPr/>
          <p:nvPr/>
        </p:nvSpPr>
        <p:spPr>
          <a:xfrm>
            <a:off x="2468880" y="219456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11" name="Nodo 10:00"/>
          <p:cNvSpPr/>
          <p:nvPr/>
        </p:nvSpPr>
        <p:spPr>
          <a:xfrm>
            <a:off x="4343400" y="219456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10:00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44144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840480" y="258775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odo 08:00"/>
          <p:cNvSpPr/>
          <p:nvPr/>
        </p:nvSpPr>
        <p:spPr>
          <a:xfrm>
            <a:off x="6217920" y="219456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08:00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44144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15000" y="258775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tiqueta head"/>
          <p:cNvSpPr/>
          <p:nvPr/>
        </p:nvSpPr>
        <p:spPr>
          <a:xfrm>
            <a:off x="2651760" y="1828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inserción ordenada</a:t>
            </a:r>
          </a:p>
        </p:txBody>
      </p:sp>
      <p:sp>
        <p:nvSpPr>
          <p:cNvPr id="19" name="CODE"/>
          <p:cNvSpPr/>
          <p:nvPr/>
        </p:nvSpPr>
        <p:spPr>
          <a:xfrm>
            <a:off x="548640" y="3474720"/>
            <a:ext cx="11091672" cy="1792732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indice =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horaNueva = pagina.getHoraVisitaSegundos();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(indice &lt; paginas.size()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&amp;&amp; paginas.get(indice).getHoraVisitaSegundos() &gt;= horaNueva)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indice++;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paginas.add(pagina, indice);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4028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Se inserta antes de la primera visita más antigua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MostrarHistorialReciente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Carlos Daniel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interna</a:t>
            </a:r>
          </a:p>
        </p:txBody>
      </p:sp>
      <p:sp>
        <p:nvSpPr>
          <p:cNvPr id="5" name="Nodo 14:00"/>
          <p:cNvSpPr/>
          <p:nvPr/>
        </p:nvSpPr>
        <p:spPr>
          <a:xfrm>
            <a:off x="1920240" y="1234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14:00</a:t>
            </a:r>
          </a:p>
        </p:txBody>
      </p:sp>
      <p:sp>
        <p:nvSpPr>
          <p:cNvPr id="6" name="Nodo 10:00"/>
          <p:cNvSpPr/>
          <p:nvPr/>
        </p:nvSpPr>
        <p:spPr>
          <a:xfrm>
            <a:off x="3794760" y="1234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10:00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148132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91840" y="162763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Nodo 08:00"/>
          <p:cNvSpPr/>
          <p:nvPr/>
        </p:nvSpPr>
        <p:spPr>
          <a:xfrm>
            <a:off x="5669279" y="1234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08:00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66360" y="1481328"/>
            <a:ext cx="5029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166360" y="1627632"/>
            <a:ext cx="5029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06040" y="1920240"/>
            <a:ext cx="0" cy="411480"/>
          </a:xfrm>
          <a:prstGeom prst="line">
            <a:avLst/>
          </a:prstGeom>
          <a:ln w="254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0560" y="1920240"/>
            <a:ext cx="0" cy="411480"/>
          </a:xfrm>
          <a:prstGeom prst="line">
            <a:avLst/>
          </a:prstGeom>
          <a:ln w="254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5079" y="1920240"/>
            <a:ext cx="0" cy="411480"/>
          </a:xfrm>
          <a:prstGeom prst="line">
            <a:avLst/>
          </a:prstGeom>
          <a:ln w="254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37744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copia</a:t>
            </a:r>
          </a:p>
        </p:txBody>
      </p:sp>
      <p:sp>
        <p:nvSpPr>
          <p:cNvPr id="16" name="Nodo 14:00"/>
          <p:cNvSpPr/>
          <p:nvPr/>
        </p:nvSpPr>
        <p:spPr>
          <a:xfrm>
            <a:off x="1920240" y="2377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17" name="Nodo 10:00"/>
          <p:cNvSpPr/>
          <p:nvPr/>
        </p:nvSpPr>
        <p:spPr>
          <a:xfrm>
            <a:off x="3794760" y="2377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262432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91840" y="277063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odo 08:00"/>
          <p:cNvSpPr/>
          <p:nvPr/>
        </p:nvSpPr>
        <p:spPr>
          <a:xfrm>
            <a:off x="5669279" y="237744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08:00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2624328"/>
            <a:ext cx="5029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166360" y="2770632"/>
            <a:ext cx="5029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o vacío"/>
          <p:cNvSpPr/>
          <p:nvPr/>
        </p:nvSpPr>
        <p:spPr>
          <a:xfrm>
            <a:off x="8138160" y="123444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1280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Historial vacío</a:t>
            </a:r>
          </a:p>
        </p:txBody>
      </p:sp>
      <p:sp>
        <p:nvSpPr>
          <p:cNvPr id="25" name="Lista vacía"/>
          <p:cNvSpPr/>
          <p:nvPr/>
        </p:nvSpPr>
        <p:spPr>
          <a:xfrm>
            <a:off x="8778240" y="1920240"/>
            <a:ext cx="224028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162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lista vacía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copia del historial</a:t>
            </a:r>
          </a:p>
        </p:txBody>
      </p:sp>
      <p:sp>
        <p:nvSpPr>
          <p:cNvPr id="27" name="CODE"/>
          <p:cNvSpPr/>
          <p:nvPr/>
        </p:nvSpPr>
        <p:spPr>
          <a:xfrm>
            <a:off x="548640" y="3611879"/>
            <a:ext cx="11091672" cy="1358899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LinkedList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PaginaWeb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historialReciente =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new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LinkedList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&lt;&gt;();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for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i =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 i &lt; paginas.size(); i++)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historialReciente.add(paginas.get(i));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historialReciente;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07356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Devuelve una copia: la lista interna queda protegida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remove: los cuatro casos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Alejandro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después</a:t>
            </a:r>
          </a:p>
        </p:txBody>
      </p:sp>
      <p:sp>
        <p:nvSpPr>
          <p:cNvPr id="6" name="Panel caso"/>
          <p:cNvSpPr/>
          <p:nvPr/>
        </p:nvSpPr>
        <p:spPr>
          <a:xfrm>
            <a:off x="1554480" y="11430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143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Primero</a:t>
            </a:r>
          </a:p>
        </p:txBody>
      </p:sp>
      <p:sp>
        <p:nvSpPr>
          <p:cNvPr id="8" name="Nodo A"/>
          <p:cNvSpPr/>
          <p:nvPr/>
        </p:nvSpPr>
        <p:spPr>
          <a:xfrm>
            <a:off x="176022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F7DDE0"/>
          </a:solidFill>
          <a:ln w="25400">
            <a:solidFill>
              <a:srgbClr val="B2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A</a:t>
            </a:r>
          </a:p>
        </p:txBody>
      </p:sp>
      <p:sp>
        <p:nvSpPr>
          <p:cNvPr id="9" name="Nodo B"/>
          <p:cNvSpPr/>
          <p:nvPr/>
        </p:nvSpPr>
        <p:spPr>
          <a:xfrm>
            <a:off x="253746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6314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6314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do C"/>
          <p:cNvSpPr/>
          <p:nvPr/>
        </p:nvSpPr>
        <p:spPr>
          <a:xfrm>
            <a:off x="331470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038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4038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do B"/>
          <p:cNvSpPr/>
          <p:nvPr/>
        </p:nvSpPr>
        <p:spPr>
          <a:xfrm>
            <a:off x="2148840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sp>
        <p:nvSpPr>
          <p:cNvPr id="16" name="Nodo C"/>
          <p:cNvSpPr/>
          <p:nvPr/>
        </p:nvSpPr>
        <p:spPr>
          <a:xfrm>
            <a:off x="2926080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53288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51760" y="2679192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nel caso"/>
          <p:cNvSpPr/>
          <p:nvPr/>
        </p:nvSpPr>
        <p:spPr>
          <a:xfrm>
            <a:off x="4069080" y="11430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69080" y="1143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Intermedio</a:t>
            </a:r>
          </a:p>
        </p:txBody>
      </p:sp>
      <p:sp>
        <p:nvSpPr>
          <p:cNvPr id="21" name="Nodo A"/>
          <p:cNvSpPr/>
          <p:nvPr/>
        </p:nvSpPr>
        <p:spPr>
          <a:xfrm>
            <a:off x="427482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22" name="Nodo B"/>
          <p:cNvSpPr/>
          <p:nvPr/>
        </p:nvSpPr>
        <p:spPr>
          <a:xfrm>
            <a:off x="505206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F7DDE0"/>
          </a:solidFill>
          <a:ln w="25400">
            <a:solidFill>
              <a:srgbClr val="B2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7774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774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Nodo C"/>
          <p:cNvSpPr/>
          <p:nvPr/>
        </p:nvSpPr>
        <p:spPr>
          <a:xfrm>
            <a:off x="582930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5498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55498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odo A"/>
          <p:cNvSpPr/>
          <p:nvPr/>
        </p:nvSpPr>
        <p:spPr>
          <a:xfrm>
            <a:off x="4663440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29" name="Nodo C"/>
          <p:cNvSpPr/>
          <p:nvPr/>
        </p:nvSpPr>
        <p:spPr>
          <a:xfrm>
            <a:off x="5440679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66359" y="253288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166359" y="2679192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anel caso"/>
          <p:cNvSpPr/>
          <p:nvPr/>
        </p:nvSpPr>
        <p:spPr>
          <a:xfrm>
            <a:off x="6583680" y="11430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1143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Último</a:t>
            </a:r>
          </a:p>
        </p:txBody>
      </p:sp>
      <p:sp>
        <p:nvSpPr>
          <p:cNvPr id="34" name="Nodo A"/>
          <p:cNvSpPr/>
          <p:nvPr/>
        </p:nvSpPr>
        <p:spPr>
          <a:xfrm>
            <a:off x="678942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35" name="Nodo B"/>
          <p:cNvSpPr/>
          <p:nvPr/>
        </p:nvSpPr>
        <p:spPr>
          <a:xfrm>
            <a:off x="756666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9234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29234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odo C"/>
          <p:cNvSpPr/>
          <p:nvPr/>
        </p:nvSpPr>
        <p:spPr>
          <a:xfrm>
            <a:off x="834390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F7DDE0"/>
          </a:solidFill>
          <a:ln w="25400">
            <a:solidFill>
              <a:srgbClr val="B2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69580" y="1709928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069580" y="1856231"/>
            <a:ext cx="2743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Nodo A"/>
          <p:cNvSpPr/>
          <p:nvPr/>
        </p:nvSpPr>
        <p:spPr>
          <a:xfrm>
            <a:off x="7178040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A</a:t>
            </a:r>
          </a:p>
        </p:txBody>
      </p:sp>
      <p:sp>
        <p:nvSpPr>
          <p:cNvPr id="42" name="Nodo B"/>
          <p:cNvSpPr/>
          <p:nvPr/>
        </p:nvSpPr>
        <p:spPr>
          <a:xfrm>
            <a:off x="7955279" y="23774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680960" y="2532888"/>
            <a:ext cx="2743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680960" y="2679192"/>
            <a:ext cx="274319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anel caso"/>
          <p:cNvSpPr/>
          <p:nvPr/>
        </p:nvSpPr>
        <p:spPr>
          <a:xfrm>
            <a:off x="9098280" y="114300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98280" y="1143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Único</a:t>
            </a:r>
          </a:p>
        </p:txBody>
      </p:sp>
      <p:sp>
        <p:nvSpPr>
          <p:cNvPr id="47" name="Nodo A"/>
          <p:cNvSpPr/>
          <p:nvPr/>
        </p:nvSpPr>
        <p:spPr>
          <a:xfrm>
            <a:off x="10081260" y="15544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F7DDE0"/>
          </a:solidFill>
          <a:ln w="25400">
            <a:solidFill>
              <a:srgbClr val="B2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A</a:t>
            </a:r>
          </a:p>
        </p:txBody>
      </p:sp>
      <p:sp>
        <p:nvSpPr>
          <p:cNvPr id="48" name="Lista sin nodos"/>
          <p:cNvSpPr/>
          <p:nvPr/>
        </p:nvSpPr>
        <p:spPr>
          <a:xfrm>
            <a:off x="9372600" y="2377440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1162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i="0">
                <a:solidFill>
                  <a:srgbClr val="11622F"/>
                </a:solidFill>
                <a:latin typeface="Consolas"/>
              </a:rPr>
              <a:t>head=tail=null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20040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reenlazado en remove</a:t>
            </a:r>
          </a:p>
        </p:txBody>
      </p:sp>
      <p:sp>
        <p:nvSpPr>
          <p:cNvPr id="50" name="CODE"/>
          <p:cNvSpPr/>
          <p:nvPr/>
        </p:nvSpPr>
        <p:spPr>
          <a:xfrm>
            <a:off x="548640" y="3566160"/>
            <a:ext cx="11091672" cy="1575816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node = getNode(index);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previous = node.getPrevious();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Node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&gt; next = node.getNext();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(previous ==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null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{ head = next; }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else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{ previous.setNext(next); 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(next ==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null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) { tail = previous; }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else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{ next.setPrevious(previous); 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size--;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17855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Dos preguntas deciden los cuatro casos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EliminarPaginaPorUrl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Alejandro</a:t>
            </a:r>
          </a:p>
        </p:txBody>
      </p:sp>
      <p:sp>
        <p:nvSpPr>
          <p:cNvPr id="4" name="Paso"/>
          <p:cNvSpPr/>
          <p:nvPr/>
        </p:nvSpPr>
        <p:spPr>
          <a:xfrm>
            <a:off x="548640" y="1143000"/>
            <a:ext cx="3611880" cy="640080"/>
          </a:xfrm>
          <a:prstGeom prst="homePlat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  Buscar</a:t>
            </a:r>
          </a:p>
        </p:txBody>
      </p:sp>
      <p:sp>
        <p:nvSpPr>
          <p:cNvPr id="5" name="Paso"/>
          <p:cNvSpPr/>
          <p:nvPr/>
        </p:nvSpPr>
        <p:spPr>
          <a:xfrm>
            <a:off x="4297679" y="1143000"/>
            <a:ext cx="3611880" cy="640080"/>
          </a:xfrm>
          <a:prstGeom prst="homePlat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2  remove(i)</a:t>
            </a:r>
          </a:p>
        </p:txBody>
      </p:sp>
      <p:sp>
        <p:nvSpPr>
          <p:cNvPr id="6" name="Paso"/>
          <p:cNvSpPr/>
          <p:nvPr/>
        </p:nvSpPr>
        <p:spPr>
          <a:xfrm>
            <a:off x="8046719" y="1143000"/>
            <a:ext cx="3611880" cy="640080"/>
          </a:xfrm>
          <a:prstGeom prst="homePlate">
            <a:avLst/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  true /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66F"/>
                </a:solidFill>
                <a:latin typeface="Calibri"/>
              </a:rPr>
              <a:t>URL repetida</a:t>
            </a:r>
          </a:p>
        </p:txBody>
      </p:sp>
      <p:sp>
        <p:nvSpPr>
          <p:cNvPr id="8" name="Nodo X 14:00"/>
          <p:cNvSpPr/>
          <p:nvPr/>
        </p:nvSpPr>
        <p:spPr>
          <a:xfrm>
            <a:off x="2743200" y="2011680"/>
            <a:ext cx="1554480" cy="640080"/>
          </a:xfrm>
          <a:prstGeom prst="roundRect">
            <a:avLst>
              <a:gd name="adj" fmla="val 20000"/>
            </a:avLst>
          </a:prstGeom>
          <a:solidFill>
            <a:srgbClr val="F7DDE0"/>
          </a:solidFill>
          <a:ln w="25400">
            <a:solidFill>
              <a:srgbClr val="B2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X 14:00</a:t>
            </a:r>
          </a:p>
        </p:txBody>
      </p:sp>
      <p:sp>
        <p:nvSpPr>
          <p:cNvPr id="9" name="Nodo Y 10:00"/>
          <p:cNvSpPr/>
          <p:nvPr/>
        </p:nvSpPr>
        <p:spPr>
          <a:xfrm>
            <a:off x="4800600" y="2011680"/>
            <a:ext cx="155448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Y 10:00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25856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297680" y="240487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do X 08:00"/>
          <p:cNvSpPr/>
          <p:nvPr/>
        </p:nvSpPr>
        <p:spPr>
          <a:xfrm>
            <a:off x="6858000" y="2011680"/>
            <a:ext cx="1554480" cy="640080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X 08:00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2258568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355080" y="2404872"/>
            <a:ext cx="502920" cy="0"/>
          </a:xfrm>
          <a:prstGeom prst="line">
            <a:avLst/>
          </a:prstGeom>
          <a:ln w="22225">
            <a:solidFill>
              <a:srgbClr val="1162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32520" y="19202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B23A48"/>
                </a:solidFill>
                <a:latin typeface="Calibri"/>
              </a:rPr>
              <a:t>elimina la primera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búsqueda y eliminación</a:t>
            </a:r>
          </a:p>
        </p:txBody>
      </p:sp>
      <p:sp>
        <p:nvSpPr>
          <p:cNvPr id="17" name="CODE"/>
          <p:cNvSpPr/>
          <p:nvPr/>
        </p:nvSpPr>
        <p:spPr>
          <a:xfrm>
            <a:off x="548640" y="3246120"/>
            <a:ext cx="11091672" cy="2009647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C9E0"/>
                </a:solidFill>
                <a:latin typeface="Consolas"/>
              </a:rPr>
              <a:t>String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urlBuscada = url.trim();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for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i = </a:t>
            </a:r>
            <a:r>
              <a:rPr sz="1400" b="0" i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 i &lt; paginas.size(); i++)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(paginas.get(i).getUrl().equals(urlBuscada))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paginas.remove(i);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true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false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92344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Devuelve false si la URL no existe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VaciarHistorialAntiguo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Alejandro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38100">
            <a:solidFill>
              <a:srgbClr val="5A6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Hora límite arriba"/>
          <p:cNvCxnSpPr/>
          <p:nvPr/>
        </p:nvCxnSpPr>
        <p:spPr>
          <a:xfrm>
            <a:off x="6099048" y="1554480"/>
            <a:ext cx="0" cy="274320"/>
          </a:xfrm>
          <a:prstGeom prst="line">
            <a:avLst/>
          </a:prstGeom>
          <a:ln w="31750">
            <a:solidFill>
              <a:srgbClr val="1162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Hora límite abajo"/>
          <p:cNvCxnSpPr/>
          <p:nvPr/>
        </p:nvCxnSpPr>
        <p:spPr>
          <a:xfrm>
            <a:off x="6099048" y="2103120"/>
            <a:ext cx="0" cy="73152"/>
          </a:xfrm>
          <a:prstGeom prst="line">
            <a:avLst/>
          </a:prstGeom>
          <a:ln w="31750">
            <a:solidFill>
              <a:srgbClr val="1162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27448" y="1143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límite 10:00:00</a:t>
            </a:r>
          </a:p>
        </p:txBody>
      </p:sp>
      <p:sp>
        <p:nvSpPr>
          <p:cNvPr id="8" name="Punto 09:59:59"/>
          <p:cNvSpPr/>
          <p:nvPr/>
        </p:nvSpPr>
        <p:spPr>
          <a:xfrm>
            <a:off x="2770632" y="1810512"/>
            <a:ext cx="310896" cy="310896"/>
          </a:xfrm>
          <a:prstGeom prst="ellipse">
            <a:avLst/>
          </a:prstGeom>
          <a:solidFill>
            <a:srgbClr val="F7DDE0"/>
          </a:solidFill>
          <a:ln w="38100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23A48"/>
                </a:solidFill>
                <a:latin typeface="Consolas"/>
              </a:rPr>
              <a:t>09:59:59</a:t>
            </a:r>
          </a:p>
        </p:txBody>
      </p:sp>
      <p:sp>
        <p:nvSpPr>
          <p:cNvPr id="10" name="Punto 10:00:00"/>
          <p:cNvSpPr/>
          <p:nvPr/>
        </p:nvSpPr>
        <p:spPr>
          <a:xfrm>
            <a:off x="5943600" y="1810512"/>
            <a:ext cx="310896" cy="310896"/>
          </a:xfrm>
          <a:prstGeom prst="ellipse">
            <a:avLst/>
          </a:prstGeom>
          <a:solidFill>
            <a:srgbClr val="DCEFE2"/>
          </a:solidFill>
          <a:ln w="381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4648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onsolas"/>
              </a:rPr>
              <a:t>10:00:00</a:t>
            </a:r>
          </a:p>
        </p:txBody>
      </p:sp>
      <p:sp>
        <p:nvSpPr>
          <p:cNvPr id="12" name="Punto 10:00:01"/>
          <p:cNvSpPr/>
          <p:nvPr/>
        </p:nvSpPr>
        <p:spPr>
          <a:xfrm>
            <a:off x="9079992" y="1810512"/>
            <a:ext cx="310896" cy="310896"/>
          </a:xfrm>
          <a:prstGeom prst="ellipse">
            <a:avLst/>
          </a:prstGeom>
          <a:solidFill>
            <a:srgbClr val="DCEFE2"/>
          </a:solidFill>
          <a:ln w="381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212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onsolas"/>
              </a:rPr>
              <a:t>10:00:01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417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23A48"/>
                </a:solidFill>
                <a:latin typeface="Calibri"/>
              </a:rPr>
              <a:t>se elimina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se conservan</a:t>
            </a:r>
          </a:p>
        </p:txBody>
      </p:sp>
      <p:sp>
        <p:nvSpPr>
          <p:cNvPr id="16" name="Resultado"/>
          <p:cNvSpPr/>
          <p:nvPr/>
        </p:nvSpPr>
        <p:spPr>
          <a:xfrm>
            <a:off x="9372600" y="2487168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nsolas"/>
              </a:rPr>
              <a:t>devuelve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recorrido con eliminación</a:t>
            </a:r>
          </a:p>
        </p:txBody>
      </p:sp>
      <p:sp>
        <p:nvSpPr>
          <p:cNvPr id="18" name="CODE"/>
          <p:cNvSpPr/>
          <p:nvPr/>
        </p:nvSpPr>
        <p:spPr>
          <a:xfrm>
            <a:off x="548640" y="3383279"/>
            <a:ext cx="11091672" cy="2009647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(i &lt; paginas.size())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(paginas.get(i).getHoraVisitaSegundos() &lt; limiteEnSegundos)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paginas.remove(i);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cantidadEliminada++;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}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else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i++;   </a:t>
            </a:r>
            <a:r>
              <a:rPr sz="1400" b="0" i="0">
                <a:solidFill>
                  <a:srgbClr val="8FA89A"/>
                </a:solidFill>
                <a:latin typeface="Consolas"/>
              </a:rPr>
              <a:t>// solo avanza si no eliminó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29504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El índice avanza solo si no se eliminó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Buscar por palabra clave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Reynaldo</a:t>
            </a:r>
          </a:p>
        </p:txBody>
      </p:sp>
      <p:sp>
        <p:nvSpPr>
          <p:cNvPr id="4" name="Palabra buscada"/>
          <p:cNvSpPr/>
          <p:nvPr/>
        </p:nvSpPr>
        <p:spPr>
          <a:xfrm>
            <a:off x="548640" y="1188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java</a:t>
            </a:r>
          </a:p>
        </p:txBody>
      </p:sp>
      <p:sp>
        <p:nvSpPr>
          <p:cNvPr id="5" name="Título"/>
          <p:cNvSpPr/>
          <p:nvPr/>
        </p:nvSpPr>
        <p:spPr>
          <a:xfrm>
            <a:off x="2194560" y="1188720"/>
            <a:ext cx="4480560" cy="475488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31720" y="1188720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66F"/>
                </a:solidFill>
                <a:latin typeface="Calibri"/>
              </a:rPr>
              <a:t>Historia de la web</a:t>
            </a:r>
          </a:p>
        </p:txBody>
      </p:sp>
      <p:sp>
        <p:nvSpPr>
          <p:cNvPr id="7" name="Resultado"/>
          <p:cNvSpPr/>
          <p:nvPr/>
        </p:nvSpPr>
        <p:spPr>
          <a:xfrm>
            <a:off x="6812280" y="1225296"/>
            <a:ext cx="402336" cy="402336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ymbol"/>
              </a:rPr>
              <a:t>✗</a:t>
            </a:r>
          </a:p>
        </p:txBody>
      </p:sp>
      <p:sp>
        <p:nvSpPr>
          <p:cNvPr id="8" name="Título"/>
          <p:cNvSpPr/>
          <p:nvPr/>
        </p:nvSpPr>
        <p:spPr>
          <a:xfrm>
            <a:off x="2194560" y="1755648"/>
            <a:ext cx="4480560" cy="475488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75564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Tutorial de Java</a:t>
            </a:r>
          </a:p>
        </p:txBody>
      </p:sp>
      <p:sp>
        <p:nvSpPr>
          <p:cNvPr id="10" name="Resultado"/>
          <p:cNvSpPr/>
          <p:nvPr/>
        </p:nvSpPr>
        <p:spPr>
          <a:xfrm>
            <a:off x="6812280" y="1792224"/>
            <a:ext cx="402336" cy="402336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" name="Título"/>
          <p:cNvSpPr/>
          <p:nvPr/>
        </p:nvSpPr>
        <p:spPr>
          <a:xfrm>
            <a:off x="2194560" y="2322576"/>
            <a:ext cx="4480560" cy="475488"/>
          </a:xfrm>
          <a:prstGeom prst="roundRect">
            <a:avLst>
              <a:gd name="adj" fmla="val 2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322576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Información oficial de Java</a:t>
            </a:r>
          </a:p>
        </p:txBody>
      </p:sp>
      <p:sp>
        <p:nvSpPr>
          <p:cNvPr id="13" name="Resultado"/>
          <p:cNvSpPr/>
          <p:nvPr/>
        </p:nvSpPr>
        <p:spPr>
          <a:xfrm>
            <a:off x="6812280" y="2359152"/>
            <a:ext cx="402336" cy="402336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4" name="Caso especial"/>
          <p:cNvSpPr/>
          <p:nvPr/>
        </p:nvSpPr>
        <p:spPr>
          <a:xfrm>
            <a:off x="7589520" y="1188720"/>
            <a:ext cx="4069080" cy="548640"/>
          </a:xfrm>
          <a:prstGeom prst="roundRect">
            <a:avLst>
              <a:gd name="adj" fmla="val 30000"/>
            </a:avLst>
          </a:prstGeom>
          <a:solidFill>
            <a:srgbClr val="5A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Sin resultados: lista vacía</a:t>
            </a:r>
          </a:p>
        </p:txBody>
      </p:sp>
      <p:sp>
        <p:nvSpPr>
          <p:cNvPr id="15" name="Caso especial"/>
          <p:cNvSpPr/>
          <p:nvPr/>
        </p:nvSpPr>
        <p:spPr>
          <a:xfrm>
            <a:off x="7589520" y="1874519"/>
            <a:ext cx="4069080" cy="548640"/>
          </a:xfrm>
          <a:prstGeom prst="roundRect">
            <a:avLst>
              <a:gd name="adj" fmla="val 3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Palabra vacía o nula: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comparación sin distinguir mayúsculas</a:t>
            </a:r>
          </a:p>
        </p:txBody>
      </p:sp>
      <p:sp>
        <p:nvSpPr>
          <p:cNvPr id="17" name="CODE"/>
          <p:cNvSpPr/>
          <p:nvPr/>
        </p:nvSpPr>
        <p:spPr>
          <a:xfrm>
            <a:off x="548640" y="3429000"/>
            <a:ext cx="11091672" cy="1575816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8FD9A8"/>
                </a:solidFill>
                <a:latin typeface="Consolas"/>
              </a:rPr>
              <a:t>for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 dirty="0" err="1">
                <a:solidFill>
                  <a:srgbClr val="8FD9A8"/>
                </a:solidFill>
                <a:latin typeface="Consolas"/>
              </a:rPr>
              <a:t>int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= </a:t>
            </a:r>
            <a:r>
              <a:rPr sz="1400" b="0" i="0" dirty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;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&lt;=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texto.length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() -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palabra.length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();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 dirty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(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texto.regionMatches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(</a:t>
            </a:r>
            <a:r>
              <a:rPr sz="1400" b="0" i="0" dirty="0">
                <a:solidFill>
                  <a:srgbClr val="8FD9A8"/>
                </a:solidFill>
                <a:latin typeface="Consolas"/>
              </a:rPr>
              <a:t>true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E8EEE9"/>
                </a:solidFill>
                <a:latin typeface="Consolas"/>
              </a:rPr>
              <a:t>palabra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, </a:t>
            </a:r>
            <a:r>
              <a:rPr sz="1400" b="0" i="0" dirty="0">
                <a:solidFill>
                  <a:srgbClr val="F0B27A"/>
                </a:solidFill>
                <a:latin typeface="Consolas"/>
              </a:rPr>
              <a:t>0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, </a:t>
            </a:r>
            <a:r>
              <a:rPr sz="1400" b="0" i="0" dirty="0" err="1" smtClean="0">
                <a:solidFill>
                  <a:srgbClr val="E8EEE9"/>
                </a:solidFill>
                <a:latin typeface="Consolas"/>
              </a:rPr>
              <a:t>palabra.length</a:t>
            </a:r>
            <a:r>
              <a:rPr lang="en-US" sz="1400" dirty="0">
                <a:solidFill>
                  <a:srgbClr val="E8EEE9"/>
                </a:solidFill>
                <a:latin typeface="Consolas"/>
              </a:rPr>
              <a:t>(</a:t>
            </a:r>
            <a:r>
              <a:rPr sz="1400" b="0" i="0" dirty="0" smtClean="0">
                <a:solidFill>
                  <a:srgbClr val="E8EEE9"/>
                </a:solidFill>
                <a:latin typeface="Consolas"/>
              </a:rPr>
              <a:t>))) 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E8EEE9"/>
                </a:solidFill>
                <a:latin typeface="Consolas"/>
              </a:rPr>
              <a:t>        </a:t>
            </a:r>
            <a:r>
              <a:rPr sz="1400" b="0" i="0" dirty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 dirty="0">
                <a:solidFill>
                  <a:srgbClr val="8FD9A8"/>
                </a:solidFill>
                <a:latin typeface="Consolas"/>
              </a:rPr>
              <a:t>true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E8EEE9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E8EEE9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8FD9A8"/>
                </a:solidFill>
                <a:latin typeface="Consolas"/>
              </a:rPr>
              <a:t>return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 dirty="0">
                <a:solidFill>
                  <a:srgbClr val="8FD9A8"/>
                </a:solidFill>
                <a:latin typeface="Consolas"/>
              </a:rPr>
              <a:t>false</a:t>
            </a:r>
            <a:r>
              <a:rPr sz="1400" b="0" i="0" dirty="0">
                <a:solidFill>
                  <a:srgbClr val="E8EEE9"/>
                </a:solidFill>
                <a:latin typeface="Consolas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139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El true de regionMatches ignora mayúsculas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Cómo se prueba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Reynaldo</a:t>
            </a:r>
          </a:p>
        </p:txBody>
      </p:sp>
      <p:sp>
        <p:nvSpPr>
          <p:cNvPr id="4" name="Cabecera Positivas"/>
          <p:cNvSpPr/>
          <p:nvPr/>
        </p:nvSpPr>
        <p:spPr>
          <a:xfrm>
            <a:off x="548640" y="1097280"/>
            <a:ext cx="5394960" cy="384048"/>
          </a:xfrm>
          <a:prstGeom prst="roundRect">
            <a:avLst>
              <a:gd name="adj" fmla="val 2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Positivas</a:t>
            </a:r>
          </a:p>
        </p:txBody>
      </p:sp>
      <p:sp>
        <p:nvSpPr>
          <p:cNvPr id="5" name="Etiqueta Positivas"/>
          <p:cNvSpPr/>
          <p:nvPr/>
        </p:nvSpPr>
        <p:spPr>
          <a:xfrm>
            <a:off x="548640" y="1572768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1F7F3"/>
          </a:solidFill>
          <a:ln w="15875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Insertar y eliminar</a:t>
            </a:r>
          </a:p>
        </p:txBody>
      </p:sp>
      <p:sp>
        <p:nvSpPr>
          <p:cNvPr id="7" name="Etiqueta Positivas"/>
          <p:cNvSpPr/>
          <p:nvPr/>
        </p:nvSpPr>
        <p:spPr>
          <a:xfrm>
            <a:off x="3291840" y="1572768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1F7F3"/>
          </a:solidFill>
          <a:ln w="15875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57276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Orden del historial</a:t>
            </a:r>
          </a:p>
        </p:txBody>
      </p:sp>
      <p:sp>
        <p:nvSpPr>
          <p:cNvPr id="9" name="Etiqueta Positivas"/>
          <p:cNvSpPr/>
          <p:nvPr/>
        </p:nvSpPr>
        <p:spPr>
          <a:xfrm>
            <a:off x="548640" y="2048256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1F7F3"/>
          </a:solidFill>
          <a:ln w="15875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Búsqueda</a:t>
            </a:r>
          </a:p>
        </p:txBody>
      </p:sp>
      <p:sp>
        <p:nvSpPr>
          <p:cNvPr id="11" name="Etiqueta Positivas"/>
          <p:cNvSpPr/>
          <p:nvPr/>
        </p:nvSpPr>
        <p:spPr>
          <a:xfrm>
            <a:off x="3291840" y="2048256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1F7F3"/>
          </a:solidFill>
          <a:ln w="15875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0482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Vaciado por hora</a:t>
            </a:r>
          </a:p>
        </p:txBody>
      </p:sp>
      <p:sp>
        <p:nvSpPr>
          <p:cNvPr id="13" name="Cabecera Negativas"/>
          <p:cNvSpPr/>
          <p:nvPr/>
        </p:nvSpPr>
        <p:spPr>
          <a:xfrm>
            <a:off x="6217920" y="1097280"/>
            <a:ext cx="5394960" cy="384048"/>
          </a:xfrm>
          <a:prstGeom prst="roundRect">
            <a:avLst>
              <a:gd name="adj" fmla="val 20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Negativas</a:t>
            </a:r>
          </a:p>
        </p:txBody>
      </p:sp>
      <p:sp>
        <p:nvSpPr>
          <p:cNvPr id="14" name="Etiqueta Negativas"/>
          <p:cNvSpPr/>
          <p:nvPr/>
        </p:nvSpPr>
        <p:spPr>
          <a:xfrm>
            <a:off x="6217920" y="1572768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BEFF0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57276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Índice inválido</a:t>
            </a:r>
          </a:p>
        </p:txBody>
      </p:sp>
      <p:sp>
        <p:nvSpPr>
          <p:cNvPr id="16" name="Etiqueta Negativas"/>
          <p:cNvSpPr/>
          <p:nvPr/>
        </p:nvSpPr>
        <p:spPr>
          <a:xfrm>
            <a:off x="8961120" y="1572768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BEFF0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57276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Lista vacía</a:t>
            </a:r>
          </a:p>
        </p:txBody>
      </p:sp>
      <p:sp>
        <p:nvSpPr>
          <p:cNvPr id="18" name="Etiqueta Negativas"/>
          <p:cNvSpPr/>
          <p:nvPr/>
        </p:nvSpPr>
        <p:spPr>
          <a:xfrm>
            <a:off x="6217920" y="2048256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BEFF0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0482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URL inexistente</a:t>
            </a:r>
          </a:p>
        </p:txBody>
      </p:sp>
      <p:sp>
        <p:nvSpPr>
          <p:cNvPr id="20" name="Etiqueta Negativas"/>
          <p:cNvSpPr/>
          <p:nvPr/>
        </p:nvSpPr>
        <p:spPr>
          <a:xfrm>
            <a:off x="8961120" y="2048256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BEFF0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20482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Hora inválida</a:t>
            </a:r>
          </a:p>
        </p:txBody>
      </p:sp>
      <p:sp>
        <p:nvSpPr>
          <p:cNvPr id="22" name="Etiqueta Negativas"/>
          <p:cNvSpPr/>
          <p:nvPr/>
        </p:nvSpPr>
        <p:spPr>
          <a:xfrm>
            <a:off x="6217920" y="2523744"/>
            <a:ext cx="2651760" cy="402336"/>
          </a:xfrm>
          <a:prstGeom prst="roundRect">
            <a:avLst>
              <a:gd name="adj" fmla="val 40000"/>
            </a:avLst>
          </a:prstGeom>
          <a:solidFill>
            <a:srgbClr val="FBEFF0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2523744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26302A"/>
                </a:solidFill>
                <a:latin typeface="Calibri"/>
              </a:rPr>
              <a:t>Dato nulo o vacío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1752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1622F"/>
                </a:solidFill>
                <a:latin typeface="Calibri"/>
              </a:rPr>
              <a:t>Código · el método verificar</a:t>
            </a:r>
          </a:p>
        </p:txBody>
      </p:sp>
      <p:sp>
        <p:nvSpPr>
          <p:cNvPr id="25" name="CODE"/>
          <p:cNvSpPr/>
          <p:nvPr/>
        </p:nvSpPr>
        <p:spPr>
          <a:xfrm>
            <a:off x="548640" y="3383279"/>
            <a:ext cx="11091672" cy="1792732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D9A8"/>
                </a:solidFill>
                <a:latin typeface="Consolas"/>
              </a:rPr>
              <a:t>private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static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verificar(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boolean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condicion,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String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caso)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if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(!condicion)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throw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8FD9A8"/>
                </a:solidFill>
                <a:latin typeface="Consolas"/>
              </a:rPr>
              <a:t>new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AssertionError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(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"Falló la prueba: "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caso);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pruebasEjecutadas++;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9CC9E0"/>
                </a:solidFill>
                <a:latin typeface="Consolas"/>
              </a:rPr>
              <a:t>System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.out.println(</a:t>
            </a:r>
            <a:r>
              <a:rPr sz="1400" b="0" i="0">
                <a:solidFill>
                  <a:srgbClr val="E7CB8A"/>
                </a:solidFill>
                <a:latin typeface="Consolas"/>
              </a:rPr>
              <a:t>"[OK] "</a:t>
            </a:r>
            <a:r>
              <a:rPr sz="1400" b="0" i="0">
                <a:solidFill>
                  <a:srgbClr val="E8EEE9"/>
                </a:solidFill>
                <a:latin typeface="Consolas"/>
              </a:rPr>
              <a:t> + caso);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EE9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12588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26302A"/>
                </a:solidFill>
                <a:latin typeface="Calibri"/>
              </a:rPr>
              <a:t>Cada prueba imprime [OK] o detiene el programa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Demo y resultados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Laura</a:t>
            </a:r>
          </a:p>
        </p:txBody>
      </p:sp>
      <p:sp>
        <p:nvSpPr>
          <p:cNvPr id="4" name="CODE consola"/>
          <p:cNvSpPr/>
          <p:nvPr/>
        </p:nvSpPr>
        <p:spPr>
          <a:xfrm>
            <a:off x="548640" y="1188720"/>
            <a:ext cx="7040880" cy="2148840"/>
          </a:xfrm>
          <a:prstGeom prst="roundRect">
            <a:avLst>
              <a:gd name="adj" fmla="val 5000"/>
            </a:avLst>
          </a:prstGeom>
          <a:solidFill>
            <a:srgbClr val="1E2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/>
            <a:r>
              <a:rPr sz="1600" b="1" i="0" dirty="0">
                <a:solidFill>
                  <a:srgbClr val="8FD9A8"/>
                </a:solidFill>
                <a:latin typeface="Consolas"/>
              </a:rPr>
              <a:t>[OK] 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14:35:08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debe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convertirse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a 52508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segundos</a:t>
            </a:r>
            <a:endParaRPr sz="1600" b="0" i="0" dirty="0">
              <a:solidFill>
                <a:srgbClr val="E8EEE9"/>
              </a:solidFill>
              <a:latin typeface="Consolas"/>
            </a:endParaRPr>
          </a:p>
          <a:p>
            <a:pPr algn="l"/>
            <a:r>
              <a:rPr sz="1600" b="0" i="0" dirty="0">
                <a:solidFill>
                  <a:srgbClr val="8FA89A"/>
                </a:solidFill>
                <a:latin typeface="Consolas"/>
              </a:rPr>
              <a:t>…</a:t>
            </a:r>
          </a:p>
          <a:p>
            <a:pPr algn="l"/>
            <a:r>
              <a:rPr sz="1600" b="1" i="0" dirty="0">
                <a:solidFill>
                  <a:srgbClr val="8FD9A8"/>
                </a:solidFill>
                <a:latin typeface="Consolas"/>
              </a:rPr>
              <a:t>[OK]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Debe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eliminar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y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devolver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el primer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elemento</a:t>
            </a:r>
            <a:endParaRPr sz="1600" b="0" i="0" dirty="0">
              <a:solidFill>
                <a:srgbClr val="E8EEE9"/>
              </a:solidFill>
              <a:latin typeface="Consolas"/>
            </a:endParaRPr>
          </a:p>
          <a:p>
            <a:pPr algn="l"/>
            <a:r>
              <a:rPr sz="1600" b="0" i="0" dirty="0">
                <a:solidFill>
                  <a:srgbClr val="8FA89A"/>
                </a:solidFill>
                <a:latin typeface="Consolas"/>
              </a:rPr>
              <a:t>…</a:t>
            </a:r>
          </a:p>
          <a:p>
            <a:pPr algn="l"/>
            <a:r>
              <a:rPr sz="1600" b="1" i="0" dirty="0">
                <a:solidFill>
                  <a:srgbClr val="8FD9A8"/>
                </a:solidFill>
                <a:latin typeface="Consolas"/>
              </a:rPr>
              <a:t>[OK]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Eliminar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una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URL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inexistente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debe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8EEE9"/>
                </a:solidFill>
                <a:latin typeface="Consolas"/>
              </a:rPr>
              <a:t>devolver</a:t>
            </a:r>
            <a:r>
              <a:rPr sz="1600" b="0" i="0" dirty="0">
                <a:solidFill>
                  <a:srgbClr val="E8EEE9"/>
                </a:solidFill>
                <a:latin typeface="Consolas"/>
              </a:rPr>
              <a:t> false</a:t>
            </a:r>
          </a:p>
          <a:p>
            <a:pPr algn="l"/>
            <a:r>
              <a:rPr sz="1600" b="0" i="0" dirty="0">
                <a:solidFill>
                  <a:srgbClr val="8FA89A"/>
                </a:solidFill>
                <a:latin typeface="Consolas"/>
              </a:rPr>
              <a:t>…</a:t>
            </a:r>
          </a:p>
          <a:p>
            <a:pPr algn="l"/>
            <a:r>
              <a:rPr sz="1600" b="1" i="0" dirty="0" err="1">
                <a:solidFill>
                  <a:srgbClr val="8FD9A8"/>
                </a:solidFill>
                <a:latin typeface="Consolas"/>
              </a:rPr>
              <a:t>Todas</a:t>
            </a:r>
            <a:r>
              <a:rPr sz="1600" b="1" i="0" dirty="0">
                <a:solidFill>
                  <a:srgbClr val="8FD9A8"/>
                </a:solidFill>
                <a:latin typeface="Consolas"/>
              </a:rPr>
              <a:t> </a:t>
            </a:r>
            <a:r>
              <a:rPr sz="1600" b="1" i="0" dirty="0" err="1">
                <a:solidFill>
                  <a:srgbClr val="8FD9A8"/>
                </a:solidFill>
                <a:latin typeface="Consolas"/>
              </a:rPr>
              <a:t>las</a:t>
            </a:r>
            <a:r>
              <a:rPr sz="1600" b="1" i="0" dirty="0">
                <a:solidFill>
                  <a:srgbClr val="8FD9A8"/>
                </a:solidFill>
                <a:latin typeface="Consolas"/>
              </a:rPr>
              <a:t> 69 </a:t>
            </a:r>
            <a:r>
              <a:rPr sz="1600" b="1" i="0" dirty="0" err="1">
                <a:solidFill>
                  <a:srgbClr val="8FD9A8"/>
                </a:solidFill>
                <a:latin typeface="Consolas"/>
              </a:rPr>
              <a:t>pruebas</a:t>
            </a:r>
            <a:r>
              <a:rPr sz="1600" b="1" i="0" dirty="0">
                <a:solidFill>
                  <a:srgbClr val="8FD9A8"/>
                </a:solidFill>
                <a:latin typeface="Consolas"/>
              </a:rPr>
              <a:t> </a:t>
            </a:r>
            <a:r>
              <a:rPr sz="1600" b="1" i="0" dirty="0" err="1">
                <a:solidFill>
                  <a:srgbClr val="8FD9A8"/>
                </a:solidFill>
                <a:latin typeface="Consolas"/>
              </a:rPr>
              <a:t>pasaron</a:t>
            </a:r>
            <a:r>
              <a:rPr sz="1600" b="1" i="0" dirty="0">
                <a:solidFill>
                  <a:srgbClr val="8FD9A8"/>
                </a:solidFill>
                <a:latin typeface="Consolas"/>
              </a:rPr>
              <a:t>.</a:t>
            </a:r>
          </a:p>
        </p:txBody>
      </p:sp>
      <p:sp>
        <p:nvSpPr>
          <p:cNvPr id="5" name="Recuadro demo"/>
          <p:cNvSpPr/>
          <p:nvPr/>
        </p:nvSpPr>
        <p:spPr>
          <a:xfrm>
            <a:off x="548640" y="3611880"/>
            <a:ext cx="704088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1162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cono monitor"/>
          <p:cNvSpPr/>
          <p:nvPr/>
        </p:nvSpPr>
        <p:spPr>
          <a:xfrm>
            <a:off x="3063240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DCEFE2"/>
          </a:solidFill>
          <a:ln w="25400">
            <a:solidFill>
              <a:srgbClr val="11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e monitor"/>
          <p:cNvSpPr/>
          <p:nvPr/>
        </p:nvSpPr>
        <p:spPr>
          <a:xfrm>
            <a:off x="3794760" y="4754880"/>
            <a:ext cx="548640" cy="137160"/>
          </a:xfrm>
          <a:prstGeom prst="rect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50274"/>
            <a:ext cx="6675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 smtClean="0">
                <a:solidFill>
                  <a:srgbClr val="11622F"/>
                </a:solidFill>
                <a:latin typeface="Calibri"/>
              </a:rPr>
              <a:t>Demo</a:t>
            </a:r>
            <a:r>
              <a:rPr lang="en-US" sz="2400" b="1" i="0" dirty="0" err="1" smtClean="0">
                <a:solidFill>
                  <a:srgbClr val="11622F"/>
                </a:solidFill>
                <a:latin typeface="Calibri"/>
              </a:rPr>
              <a:t>stración</a:t>
            </a:r>
            <a:r>
              <a:rPr sz="2400" b="1" i="0" dirty="0" smtClean="0">
                <a:solidFill>
                  <a:srgbClr val="11622F"/>
                </a:solidFill>
                <a:latin typeface="Calibri"/>
              </a:rPr>
              <a:t> </a:t>
            </a:r>
            <a:r>
              <a:rPr sz="2400" b="1" i="0" dirty="0">
                <a:solidFill>
                  <a:srgbClr val="11622F"/>
                </a:solidFill>
                <a:latin typeface="Calibri"/>
              </a:rPr>
              <a:t>en vivo: </a:t>
            </a:r>
            <a:r>
              <a:rPr sz="2400" b="1" i="0" dirty="0" err="1">
                <a:solidFill>
                  <a:srgbClr val="11622F"/>
                </a:solidFill>
                <a:latin typeface="Calibri"/>
              </a:rPr>
              <a:t>menú</a:t>
            </a:r>
            <a:r>
              <a:rPr sz="2400" b="1" i="0" dirty="0">
                <a:solidFill>
                  <a:srgbClr val="11622F"/>
                </a:solidFill>
                <a:latin typeface="Calibri"/>
              </a:rPr>
              <a:t> de Main</a:t>
            </a:r>
          </a:p>
        </p:txBody>
      </p:sp>
      <p:sp>
        <p:nvSpPr>
          <p:cNvPr id="9" name="Tarjeta resultado"/>
          <p:cNvSpPr/>
          <p:nvPr/>
        </p:nvSpPr>
        <p:spPr>
          <a:xfrm>
            <a:off x="7863840" y="118872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280160"/>
            <a:ext cx="379476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Myriad Pro Cond"/>
              </a:rPr>
              <a:t>69 / 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77440"/>
            <a:ext cx="3794760" cy="82296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pruebas ejecutadas, todas pasaron</a:t>
            </a:r>
          </a:p>
        </p:txBody>
      </p:sp>
      <p:sp>
        <p:nvSpPr>
          <p:cNvPr id="12" name="Desglose Grupos de flujo normal"/>
          <p:cNvSpPr/>
          <p:nvPr/>
        </p:nvSpPr>
        <p:spPr>
          <a:xfrm>
            <a:off x="7863840" y="3611880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361188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097A34"/>
                </a:solidFill>
                <a:latin typeface="Myriad Pro Cond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6118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6302A"/>
                </a:solidFill>
                <a:latin typeface="Calibri"/>
              </a:rPr>
              <a:t>Grupos de flujo normal</a:t>
            </a:r>
          </a:p>
        </p:txBody>
      </p:sp>
      <p:sp>
        <p:nvSpPr>
          <p:cNvPr id="15" name="Desglose Grupos de casos negativos"/>
          <p:cNvSpPr/>
          <p:nvPr/>
        </p:nvSpPr>
        <p:spPr>
          <a:xfrm>
            <a:off x="7863840" y="463600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FB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4636008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B23A48"/>
                </a:solidFill>
                <a:latin typeface="Myriad Pro Cond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636008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6302A"/>
                </a:solidFill>
                <a:latin typeface="Calibri"/>
              </a:rPr>
              <a:t>Grupos de casos negativos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961120" cy="822960"/>
          </a:xfrm>
        </p:spPr>
        <p:txBody>
          <a:bodyPr wrap="square" anchor="ctr"/>
          <a:lstStyle/>
          <a:p>
            <a:pPr algn="l"/>
            <a:r>
              <a:rPr sz="3600" b="1" i="0">
                <a:solidFill>
                  <a:srgbClr val="11622F"/>
                </a:solidFill>
                <a:latin typeface="Myriad Pro Cond"/>
              </a:rPr>
              <a:t>Conclusiones</a:t>
            </a:r>
          </a:p>
        </p:txBody>
      </p:sp>
      <p:sp>
        <p:nvSpPr>
          <p:cNvPr id="3" name="CHIP expositor"/>
          <p:cNvSpPr/>
          <p:nvPr/>
        </p:nvSpPr>
        <p:spPr>
          <a:xfrm>
            <a:off x="9811512" y="38404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Laura</a:t>
            </a:r>
          </a:p>
        </p:txBody>
      </p:sp>
      <p:sp>
        <p:nvSpPr>
          <p:cNvPr id="4" name="Aprendizaje"/>
          <p:cNvSpPr/>
          <p:nvPr/>
        </p:nvSpPr>
        <p:spPr>
          <a:xfrm>
            <a:off x="548640" y="123444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úmero"/>
          <p:cNvSpPr/>
          <p:nvPr/>
        </p:nvSpPr>
        <p:spPr>
          <a:xfrm>
            <a:off x="777240" y="1399032"/>
            <a:ext cx="585216" cy="585216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34440"/>
            <a:ext cx="57607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Punteros de una lista doble</a:t>
            </a:r>
          </a:p>
        </p:txBody>
      </p:sp>
      <p:sp>
        <p:nvSpPr>
          <p:cNvPr id="7" name="Aprendizaje"/>
          <p:cNvSpPr/>
          <p:nvPr/>
        </p:nvSpPr>
        <p:spPr>
          <a:xfrm>
            <a:off x="548640" y="233172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"/>
          <p:cNvSpPr/>
          <p:nvPr/>
        </p:nvSpPr>
        <p:spPr>
          <a:xfrm>
            <a:off x="777240" y="2496312"/>
            <a:ext cx="585216" cy="585216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31720"/>
            <a:ext cx="57607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Casos límite: lista vacía y nodo único</a:t>
            </a:r>
          </a:p>
        </p:txBody>
      </p:sp>
      <p:sp>
        <p:nvSpPr>
          <p:cNvPr id="10" name="Aprendizaje"/>
          <p:cNvSpPr/>
          <p:nvPr/>
        </p:nvSpPr>
        <p:spPr>
          <a:xfrm>
            <a:off x="548640" y="342900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1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"/>
          <p:cNvSpPr/>
          <p:nvPr/>
        </p:nvSpPr>
        <p:spPr>
          <a:xfrm>
            <a:off x="777240" y="3593592"/>
            <a:ext cx="585216" cy="585216"/>
          </a:xfrm>
          <a:prstGeom prst="ellipse">
            <a:avLst/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29000"/>
            <a:ext cx="57607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26302A"/>
                </a:solidFill>
                <a:latin typeface="Calibri"/>
              </a:rPr>
              <a:t>Pruebas sistemáticas</a:t>
            </a:r>
          </a:p>
        </p:txBody>
      </p:sp>
      <p:pic>
        <p:nvPicPr>
          <p:cNvPr id="13" name="QR repositorio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1188720"/>
            <a:ext cx="21945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840" y="34290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1622F"/>
                </a:solidFill>
                <a:latin typeface="Calibri"/>
              </a:rPr>
              <a:t>Repositorio</a:t>
            </a:r>
          </a:p>
        </p:txBody>
      </p:sp>
      <p:sp>
        <p:nvSpPr>
          <p:cNvPr id="15" name="Preguntas"/>
          <p:cNvSpPr/>
          <p:nvPr/>
        </p:nvSpPr>
        <p:spPr>
          <a:xfrm>
            <a:off x="7863840" y="3977639"/>
            <a:ext cx="3794760" cy="86868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Myriad Pro Cond"/>
              </a:rPr>
              <a:t>¿Preguntas?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1622F"/>
                </a:solidFill>
                <a:latin typeface="Consolas"/>
              </a:rPr>
              <a:t>github.com/whoislaura/webbrowser-lista-doblemente-enlazada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2003</Words>
  <Application>Microsoft Office PowerPoint</Application>
  <PresentationFormat>Panorámica</PresentationFormat>
  <Paragraphs>349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Myriad Pro Cond</vt:lpstr>
      <vt:lpstr>Segoe UI Symbol</vt:lpstr>
      <vt:lpstr>Times New Roman</vt:lpstr>
      <vt:lpstr>Tema de Office</vt:lpstr>
      <vt:lpstr>Presentación de PowerPoint</vt:lpstr>
      <vt:lpstr>El problema</vt:lpstr>
      <vt:lpstr>Lista doblemente enlazada</vt:lpstr>
      <vt:lpstr>Mapa del proyecto</vt:lpstr>
      <vt:lpstr>Node, IList y LinkedList</vt:lpstr>
      <vt:lpstr>Insertar en la lista</vt:lpstr>
      <vt:lpstr>Obtener por posición</vt:lpstr>
      <vt:lpstr>PaginaWeb: la hora en segundos</vt:lpstr>
      <vt:lpstr>RegistrarVisita</vt:lpstr>
      <vt:lpstr>MostrarHistorialReciente</vt:lpstr>
      <vt:lpstr>remove: los cuatro casos</vt:lpstr>
      <vt:lpstr>EliminarPaginaPorUrl</vt:lpstr>
      <vt:lpstr>VaciarHistorialAntiguo</vt:lpstr>
      <vt:lpstr>Buscar por palabra clave</vt:lpstr>
      <vt:lpstr>Cómo se prueba</vt:lpstr>
      <vt:lpstr>Demo y resultados</vt:lpstr>
      <vt:lpstr>Conclusiones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Historial de navegación WebBrowser · Equipo 8</dc:title>
  <dc:creator>Equipo 8</dc:creator>
  <cp:lastModifiedBy>Cuenta Microsoft</cp:lastModifiedBy>
  <cp:revision>8</cp:revision>
  <dcterms:created xsi:type="dcterms:W3CDTF">2024-09-04T19:51:03Z</dcterms:created>
  <dcterms:modified xsi:type="dcterms:W3CDTF">2026-10-15T01:16:10Z</dcterms:modified>
</cp:coreProperties>
</file>